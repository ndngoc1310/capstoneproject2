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8" r:id="rId3"/>
    <p:sldId id="271" r:id="rId4"/>
    <p:sldId id="257" r:id="rId5"/>
    <p:sldId id="290" r:id="rId6"/>
    <p:sldId id="291" r:id="rId7"/>
    <p:sldId id="292" r:id="rId8"/>
    <p:sldId id="289" r:id="rId9"/>
    <p:sldId id="293" r:id="rId10"/>
    <p:sldId id="294" r:id="rId11"/>
    <p:sldId id="295" r:id="rId12"/>
    <p:sldId id="296" r:id="rId13"/>
    <p:sldId id="297" r:id="rId14"/>
    <p:sldId id="303" r:id="rId15"/>
    <p:sldId id="298" r:id="rId16"/>
    <p:sldId id="299" r:id="rId17"/>
    <p:sldId id="302" r:id="rId18"/>
    <p:sldId id="300" r:id="rId19"/>
    <p:sldId id="301" r:id="rId20"/>
    <p:sldId id="330" r:id="rId21"/>
    <p:sldId id="333" r:id="rId22"/>
    <p:sldId id="304" r:id="rId23"/>
    <p:sldId id="312" r:id="rId24"/>
    <p:sldId id="305" r:id="rId25"/>
    <p:sldId id="313" r:id="rId26"/>
    <p:sldId id="306" r:id="rId27"/>
    <p:sldId id="314" r:id="rId28"/>
    <p:sldId id="332" r:id="rId29"/>
    <p:sldId id="307" r:id="rId30"/>
    <p:sldId id="315" r:id="rId31"/>
    <p:sldId id="316" r:id="rId32"/>
    <p:sldId id="317" r:id="rId33"/>
    <p:sldId id="319" r:id="rId34"/>
    <p:sldId id="308" r:id="rId35"/>
    <p:sldId id="318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09" r:id="rId46"/>
    <p:sldId id="329" r:id="rId47"/>
    <p:sldId id="310" r:id="rId48"/>
    <p:sldId id="311" r:id="rId49"/>
    <p:sldId id="26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B91"/>
    <a:srgbClr val="1488D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39B04-457B-40ED-BD68-04E57E37D0B0}" v="5" dt="2026-01-07T16:44:33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>
        <p:scale>
          <a:sx n="100" d="100"/>
          <a:sy n="100" d="100"/>
        </p:scale>
        <p:origin x="2736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Duy Ngọc" userId="b62dc53bd2404d9b" providerId="LiveId" clId="{4B1D77B3-94B5-47B6-BE4E-72A7E081A637}"/>
    <pc:docChg chg="undo custSel addSld delSld modSld sldOrd">
      <pc:chgData name="Nguyễn Duy Ngọc" userId="b62dc53bd2404d9b" providerId="LiveId" clId="{4B1D77B3-94B5-47B6-BE4E-72A7E081A637}" dt="2026-01-07T16:44:43.931" v="102"/>
      <pc:docMkLst>
        <pc:docMk/>
      </pc:docMkLst>
      <pc:sldChg chg="addSp delSp modSp add mod ord">
        <pc:chgData name="Nguyễn Duy Ngọc" userId="b62dc53bd2404d9b" providerId="LiveId" clId="{4B1D77B3-94B5-47B6-BE4E-72A7E081A637}" dt="2026-01-07T16:44:43.931" v="102"/>
        <pc:sldMkLst>
          <pc:docMk/>
          <pc:sldMk cId="29573684" sldId="330"/>
        </pc:sldMkLst>
        <pc:spChg chg="del">
          <ac:chgData name="Nguyễn Duy Ngọc" userId="b62dc53bd2404d9b" providerId="LiveId" clId="{4B1D77B3-94B5-47B6-BE4E-72A7E081A637}" dt="2026-01-07T16:37:41.509" v="3" actId="478"/>
          <ac:spMkLst>
            <pc:docMk/>
            <pc:sldMk cId="29573684" sldId="330"/>
            <ac:spMk id="3" creationId="{53BECCB3-7812-3076-B985-3DD121FE129B}"/>
          </ac:spMkLst>
        </pc:spChg>
        <pc:spChg chg="add del mod">
          <ac:chgData name="Nguyễn Duy Ngọc" userId="b62dc53bd2404d9b" providerId="LiveId" clId="{4B1D77B3-94B5-47B6-BE4E-72A7E081A637}" dt="2026-01-07T16:37:43.024" v="5" actId="478"/>
          <ac:spMkLst>
            <pc:docMk/>
            <pc:sldMk cId="29573684" sldId="330"/>
            <ac:spMk id="6" creationId="{656F8093-BB87-C529-B9F5-F4ECB4DC0F72}"/>
          </ac:spMkLst>
        </pc:spChg>
        <pc:spChg chg="add mod">
          <ac:chgData name="Nguyễn Duy Ngọc" userId="b62dc53bd2404d9b" providerId="LiveId" clId="{4B1D77B3-94B5-47B6-BE4E-72A7E081A637}" dt="2026-01-07T16:44:29.711" v="98" actId="20577"/>
          <ac:spMkLst>
            <pc:docMk/>
            <pc:sldMk cId="29573684" sldId="330"/>
            <ac:spMk id="17" creationId="{0FCDA094-D025-4B6A-DE74-F3F9FF5D83B6}"/>
          </ac:spMkLst>
        </pc:spChg>
        <pc:picChg chg="add mod">
          <ac:chgData name="Nguyễn Duy Ngọc" userId="b62dc53bd2404d9b" providerId="LiveId" clId="{4B1D77B3-94B5-47B6-BE4E-72A7E081A637}" dt="2026-01-07T16:40:51.667" v="27" actId="1076"/>
          <ac:picMkLst>
            <pc:docMk/>
            <pc:sldMk cId="29573684" sldId="330"/>
            <ac:picMk id="8" creationId="{09AF813E-D020-EC24-7BCF-CCCFFC67C276}"/>
          </ac:picMkLst>
        </pc:picChg>
        <pc:picChg chg="add mod">
          <ac:chgData name="Nguyễn Duy Ngọc" userId="b62dc53bd2404d9b" providerId="LiveId" clId="{4B1D77B3-94B5-47B6-BE4E-72A7E081A637}" dt="2026-01-07T16:40:51.667" v="27" actId="1076"/>
          <ac:picMkLst>
            <pc:docMk/>
            <pc:sldMk cId="29573684" sldId="330"/>
            <ac:picMk id="14" creationId="{33528586-D95A-04CE-A251-FBA7CFAF125D}"/>
          </ac:picMkLst>
        </pc:picChg>
        <pc:picChg chg="add del">
          <ac:chgData name="Nguyễn Duy Ngọc" userId="b62dc53bd2404d9b" providerId="LiveId" clId="{4B1D77B3-94B5-47B6-BE4E-72A7E081A637}" dt="2026-01-07T16:40:56.899" v="29" actId="22"/>
          <ac:picMkLst>
            <pc:docMk/>
            <pc:sldMk cId="29573684" sldId="330"/>
            <ac:picMk id="16" creationId="{CCD81AE6-7391-D3A4-B926-E2D5920E5D61}"/>
          </ac:picMkLst>
        </pc:picChg>
      </pc:sldChg>
      <pc:sldChg chg="add del ord">
        <pc:chgData name="Nguyễn Duy Ngọc" userId="b62dc53bd2404d9b" providerId="LiveId" clId="{4B1D77B3-94B5-47B6-BE4E-72A7E081A637}" dt="2026-01-07T16:40:20.222" v="18" actId="47"/>
        <pc:sldMkLst>
          <pc:docMk/>
          <pc:sldMk cId="2043271666" sldId="331"/>
        </pc:sldMkLst>
      </pc:sldChg>
      <pc:sldChg chg="addSp modSp add mod ord">
        <pc:chgData name="Nguyễn Duy Ngọc" userId="b62dc53bd2404d9b" providerId="LiveId" clId="{4B1D77B3-94B5-47B6-BE4E-72A7E081A637}" dt="2026-01-07T16:42:48.867" v="78" actId="1035"/>
        <pc:sldMkLst>
          <pc:docMk/>
          <pc:sldMk cId="1459634036" sldId="332"/>
        </pc:sldMkLst>
        <pc:spChg chg="add mod">
          <ac:chgData name="Nguyễn Duy Ngọc" userId="b62dc53bd2404d9b" providerId="LiveId" clId="{4B1D77B3-94B5-47B6-BE4E-72A7E081A637}" dt="2026-01-07T16:42:48.867" v="78" actId="1035"/>
          <ac:spMkLst>
            <pc:docMk/>
            <pc:sldMk cId="1459634036" sldId="332"/>
            <ac:spMk id="6" creationId="{1D7575DF-517D-457E-F2C8-DB2B456562CA}"/>
          </ac:spMkLst>
        </pc:spChg>
        <pc:picChg chg="add mod">
          <ac:chgData name="Nguyễn Duy Ngọc" userId="b62dc53bd2404d9b" providerId="LiveId" clId="{4B1D77B3-94B5-47B6-BE4E-72A7E081A637}" dt="2026-01-07T16:42:45.041" v="74" actId="1076"/>
          <ac:picMkLst>
            <pc:docMk/>
            <pc:sldMk cId="1459634036" sldId="332"/>
            <ac:picMk id="4" creationId="{42D99CEF-9625-ECBD-F575-AEFD2A943AF9}"/>
          </ac:picMkLst>
        </pc:picChg>
      </pc:sldChg>
      <pc:sldChg chg="addSp modSp add mod ord">
        <pc:chgData name="Nguyễn Duy Ngọc" userId="b62dc53bd2404d9b" providerId="LiveId" clId="{4B1D77B3-94B5-47B6-BE4E-72A7E081A637}" dt="2026-01-07T16:44:43.931" v="102"/>
        <pc:sldMkLst>
          <pc:docMk/>
          <pc:sldMk cId="2623412615" sldId="333"/>
        </pc:sldMkLst>
        <pc:spChg chg="add mod">
          <ac:chgData name="Nguyễn Duy Ngọc" userId="b62dc53bd2404d9b" providerId="LiveId" clId="{4B1D77B3-94B5-47B6-BE4E-72A7E081A637}" dt="2026-01-07T16:44:34.591" v="100" actId="20577"/>
          <ac:spMkLst>
            <pc:docMk/>
            <pc:sldMk cId="2623412615" sldId="333"/>
            <ac:spMk id="8" creationId="{6174FBF1-7D4C-084B-8056-8511BD5C510A}"/>
          </ac:spMkLst>
        </pc:spChg>
        <pc:picChg chg="add mod">
          <ac:chgData name="Nguyễn Duy Ngọc" userId="b62dc53bd2404d9b" providerId="LiveId" clId="{4B1D77B3-94B5-47B6-BE4E-72A7E081A637}" dt="2026-01-07T16:42:05.451" v="59" actId="1036"/>
          <ac:picMkLst>
            <pc:docMk/>
            <pc:sldMk cId="2623412615" sldId="333"/>
            <ac:picMk id="4" creationId="{D20BE022-00D7-7F8C-9784-466E249C2985}"/>
          </ac:picMkLst>
        </pc:picChg>
        <pc:picChg chg="add mod">
          <ac:chgData name="Nguyễn Duy Ngọc" userId="b62dc53bd2404d9b" providerId="LiveId" clId="{4B1D77B3-94B5-47B6-BE4E-72A7E081A637}" dt="2026-01-07T16:42:05.451" v="59" actId="1036"/>
          <ac:picMkLst>
            <pc:docMk/>
            <pc:sldMk cId="2623412615" sldId="333"/>
            <ac:picMk id="7" creationId="{88292C3A-DD56-59D1-BDEF-1EE8F2C8CF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3CB35-3E50-4F92-BDD0-4B36275519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BE378-3504-45F3-A53E-88BD3A27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2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161C-4B40-BCBF-E09D-218312EE6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A53B4-EF1D-5AB5-6C08-30791D7E0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5E3F5-4B8F-83C0-D268-09F99AFF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00D4B-F1C2-F260-E042-40A31CB1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716EA-F0C1-3A55-1E97-5C3AB68A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C626-B5F2-5431-649F-2D0397FB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2138-2125-3791-604F-7C1FA79C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BE9E-0BD5-751F-59D5-D3EF330D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BA75E-9174-893B-F9EC-66741FDE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D4B9-8144-CE7E-8BB7-C8773B9B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9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2805-A035-C7A8-3F9D-803EBEB7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DB8EF-26F7-2AF8-3C50-1D6163016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44D6B-E141-28C2-DC50-E195B945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4C37-95C3-EE85-B2F2-0CFC3BDD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ADFA2-8D4C-3273-2DC4-0FFFA7FD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7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4697-A016-1FD5-F272-12877084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BE49-A69B-2C7A-8D74-FCBF12679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81524-E3B1-DF16-143E-972470E4D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A8859-B755-EAD2-31CB-3C44BAF4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FC511-0E8C-F0BA-8AE2-70FC7D5B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03A20-61A3-7581-8A09-E25362E5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1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F9DA-4754-5238-47A9-B80D90F2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7D30-507A-B4B3-4B6D-28936678A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DF6A8-8818-087D-A02B-DF50C05C2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73D444-60CD-1EB7-B673-F7F0BD57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24303-DA78-94E4-C060-7C2D2910F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AD5A7-8BE3-CC3B-4BBA-077FB1AB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F6D7B-2730-76EB-47A8-DDB9C578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A2F9CE-E011-1F77-3ECE-AF9F5598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5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DE13-B328-0DCD-C69B-1B9DAFC9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0B9D7-F55E-D21F-FFEB-00E75E2D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65399-8248-3986-211C-C3230CB6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CD10B-553D-1F58-C96F-C37B70A4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7DBBF-4008-0D6C-66C5-57C7917B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1571E-A9B2-CD27-99D3-B630F5FD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8CCC-5486-FC41-6C53-209290CF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977A-D0F0-CC93-D90B-8B845066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AC29F-1DEB-05FD-55CB-E44DCB57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9BA94-0962-F0C8-902B-5C22EDB72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380DC-ADD3-9A0A-2C8F-0CDBE232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5605F-46AD-BCF6-D2F2-73A3937C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45A90-46E1-0BA0-4280-9066F1F2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7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960B-432E-B841-FD1D-E794845E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1620C-0998-2B20-39F4-B88C468CC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E2958-0B09-D832-BEA1-6541E6108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588A3-57BC-23FA-6E70-0A3CCC5C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1A4FE-0698-EDC1-A51B-92CFABC3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A217-4590-096D-32B5-2CB49B78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1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B3A1-DC01-8494-91ED-19676AB0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B45B8-DD48-1E9C-8233-5206D5D7A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B81B-02AF-59E5-1006-824A7714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11436-2A2B-4F4A-6B45-33F9B6A9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DD69-368E-D07B-794B-4BD9DE3F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6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56EB8-D12F-DA4C-A4E9-A647661DD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E5C9B-A45B-EA4A-3FB8-6224A99F5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23C8-6E7D-585A-5125-4EE207CB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B082-73CB-1895-6E99-F714FC4A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654D7-25AB-9913-8316-96D32623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5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1C828-A011-13B7-1C62-09588EFF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B5F2-A287-A0F9-5C5E-679802140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C3E6-7A52-2231-6006-C2223E6DD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FF514-D882-4705-9C5B-60BCF7BB854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CF90-2EC0-FD00-33E3-D8879B9C8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F8805-9527-2C48-DF24-52026D2E4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99C9F-4585-4ACA-854A-ED9448E2E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2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F2A5465A-8BD5-5DE0-FC20-1537E54F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2640541" y="334033"/>
            <a:ext cx="624599" cy="631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A66558-530C-F80F-D292-465C509EF84B}"/>
              </a:ext>
            </a:extLst>
          </p:cNvPr>
          <p:cNvSpPr txBox="1"/>
          <p:nvPr/>
        </p:nvSpPr>
        <p:spPr>
          <a:xfrm>
            <a:off x="1536773" y="1997236"/>
            <a:ext cx="91184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488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PROJECT 2</a:t>
            </a:r>
            <a:endParaRPr lang="en-US" sz="4400" dirty="0">
              <a:solidFill>
                <a:srgbClr val="1488D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8802D8-CCAC-F67A-40E5-13865B1AEB90}"/>
              </a:ext>
            </a:extLst>
          </p:cNvPr>
          <p:cNvSpPr txBox="1"/>
          <p:nvPr/>
        </p:nvSpPr>
        <p:spPr>
          <a:xfrm>
            <a:off x="3262446" y="319202"/>
            <a:ext cx="6019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VIETNAM NATIONAL UNIVERSITY HO CHI MINH CITY</a:t>
            </a:r>
          </a:p>
          <a:p>
            <a:pPr algn="ctr"/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 CHI MINH CITY UNIVERSITY OF TECHNOLOGY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4E2383-D05E-6943-EBBE-F5CA029EF4E4}"/>
              </a:ext>
            </a:extLst>
          </p:cNvPr>
          <p:cNvSpPr txBox="1"/>
          <p:nvPr/>
        </p:nvSpPr>
        <p:spPr>
          <a:xfrm>
            <a:off x="2830682" y="4636848"/>
            <a:ext cx="65306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Instructor: 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Assoc. Prof. Dr.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Trần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Hoàng Linh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Student: 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Nguyễn Duy Ngọc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ID: 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2251036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A37E83-3D7C-50CE-176F-AF856B575A34}"/>
              </a:ext>
            </a:extLst>
          </p:cNvPr>
          <p:cNvSpPr txBox="1"/>
          <p:nvPr/>
        </p:nvSpPr>
        <p:spPr>
          <a:xfrm>
            <a:off x="3882092" y="6280391"/>
            <a:ext cx="4427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 Chi Minh City – January 5,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D37004-EBDC-9460-3385-40B4BC7B317F}"/>
              </a:ext>
            </a:extLst>
          </p:cNvPr>
          <p:cNvSpPr txBox="1"/>
          <p:nvPr/>
        </p:nvSpPr>
        <p:spPr>
          <a:xfrm>
            <a:off x="2728100" y="1020823"/>
            <a:ext cx="7088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ELECTRICAL AND ELECTRONICS ENGINEERING</a:t>
            </a:r>
          </a:p>
          <a:p>
            <a:pPr algn="ctr"/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E8740-75C7-E2F0-C6EF-108FA9220FFA}"/>
              </a:ext>
            </a:extLst>
          </p:cNvPr>
          <p:cNvSpPr txBox="1"/>
          <p:nvPr/>
        </p:nvSpPr>
        <p:spPr>
          <a:xfrm>
            <a:off x="1353390" y="2796928"/>
            <a:ext cx="948521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IMPLEMENTATION OF </a:t>
            </a:r>
            <a:endParaRPr lang="en-US" sz="3200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PIPELINED RISC-V PROCESSOR INTEGRATING TILELINK-UL BUS PROTOCOL</a:t>
            </a:r>
            <a:endParaRPr lang="en-US" sz="3200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E28A859B-FD3F-7FE4-3281-26718A651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15618" y="-2448434"/>
            <a:ext cx="8480563" cy="7345210"/>
          </a:xfrm>
          <a:prstGeom prst="rect">
            <a:avLst/>
          </a:prstGeom>
        </p:spPr>
      </p:pic>
      <p:pic>
        <p:nvPicPr>
          <p:cNvPr id="10" name="Picture 9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4A5EC57A-807C-25AF-7641-76CE022F9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424205" y="1967118"/>
            <a:ext cx="8480563" cy="734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5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67AA-0541-D5CE-1832-DAB2CB40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F442-5CA7-73FC-E12B-FF288529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DC9CB-0856-57CF-F0D9-5E957C856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0277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Theoretical Background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 and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 and Future Vision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7E4B58-F2D1-E643-F8ED-94678552BCEE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DC51C4-90E3-B9F9-427E-6C69C4E13442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29E0A-C2ED-A5A8-7650-A195B82A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7A17B70F-FE8F-F0D8-DFF6-710B3D130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2BE095BB-60F8-621F-F50B-FDDF63E72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51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2D4E5-9751-3BFC-43BE-4FE47696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E6C6-9E1B-37C8-28B8-9CE6D87A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D7D2-2BAE-FBD9-F328-1368A966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Arial"/>
                <a:ea typeface="+mn-lt"/>
                <a:cs typeface="+mn-lt"/>
              </a:rPr>
              <a:t>Motivation</a:t>
            </a:r>
          </a:p>
          <a:p>
            <a:pPr>
              <a:buFont typeface="Arial"/>
            </a:pPr>
            <a:r>
              <a:rPr lang="en-US" dirty="0">
                <a:latin typeface="Arial"/>
                <a:cs typeface="Arial"/>
              </a:rPr>
              <a:t>Legacy processor core with </a:t>
            </a:r>
            <a:r>
              <a:rPr lang="en-US" b="1" dirty="0">
                <a:latin typeface="Arial"/>
                <a:cs typeface="Arial"/>
              </a:rPr>
              <a:t>rigid dependency </a:t>
            </a:r>
            <a:r>
              <a:rPr lang="en-US" dirty="0">
                <a:latin typeface="Arial"/>
                <a:cs typeface="Arial"/>
              </a:rPr>
              <a:t>on custom memory connections</a:t>
            </a:r>
          </a:p>
          <a:p>
            <a:pPr>
              <a:buFont typeface="Arial"/>
            </a:pPr>
            <a:r>
              <a:rPr lang="en-US" dirty="0">
                <a:latin typeface="Arial"/>
                <a:cs typeface="Arial"/>
              </a:rPr>
              <a:t>Significant limitations in system </a:t>
            </a:r>
            <a:r>
              <a:rPr lang="en-US" b="1" dirty="0">
                <a:latin typeface="Arial"/>
                <a:cs typeface="Arial"/>
              </a:rPr>
              <a:t>modularity</a:t>
            </a:r>
            <a:r>
              <a:rPr lang="en-US" dirty="0">
                <a:latin typeface="Arial"/>
                <a:cs typeface="Arial"/>
              </a:rPr>
              <a:t> and scalability </a:t>
            </a:r>
          </a:p>
          <a:p>
            <a:pPr>
              <a:buFont typeface="Arial"/>
            </a:pPr>
            <a:r>
              <a:rPr lang="en-US" dirty="0">
                <a:latin typeface="Arial"/>
                <a:cs typeface="Arial"/>
              </a:rPr>
              <a:t>Obstacles in integrating additional </a:t>
            </a:r>
            <a:r>
              <a:rPr lang="en-US" b="1" dirty="0">
                <a:latin typeface="Arial"/>
                <a:cs typeface="Arial"/>
              </a:rPr>
              <a:t>peripheral devices </a:t>
            </a:r>
          </a:p>
          <a:p>
            <a:pPr>
              <a:buFont typeface="Arial"/>
            </a:pPr>
            <a:r>
              <a:rPr lang="en-US" dirty="0">
                <a:latin typeface="Arial"/>
                <a:cs typeface="Arial"/>
              </a:rPr>
              <a:t>Necessity of adopting industry-standard </a:t>
            </a:r>
            <a:r>
              <a:rPr lang="en-US" b="1" dirty="0">
                <a:latin typeface="Arial"/>
                <a:cs typeface="Arial"/>
              </a:rPr>
              <a:t>bus protocols </a:t>
            </a:r>
          </a:p>
          <a:p>
            <a:pPr>
              <a:buFont typeface="Arial"/>
            </a:pPr>
            <a:r>
              <a:rPr lang="en-US" dirty="0">
                <a:latin typeface="Arial"/>
                <a:cs typeface="Arial"/>
              </a:rPr>
              <a:t>Transitioning towards a robust </a:t>
            </a:r>
            <a:r>
              <a:rPr lang="en-US" b="1" dirty="0">
                <a:latin typeface="Arial"/>
                <a:cs typeface="Arial"/>
              </a:rPr>
              <a:t>System-on-Chip (SoC) </a:t>
            </a:r>
            <a:r>
              <a:rPr lang="en-US" dirty="0">
                <a:latin typeface="Arial"/>
                <a:cs typeface="Arial"/>
              </a:rPr>
              <a:t>foundation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A76573-28DC-2DDE-B722-8C19E6302E8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E1D15DA-F900-155C-D40A-F3C3DE39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6AECB3ED-95B3-3770-7605-309990001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58B76-AAF9-F54C-7A6E-B9D11375FDFD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A6567A54-993A-061C-0AC7-0F38A5574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6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4CF8-4C8B-8F32-764B-8ED75DB8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891C-CB0A-3C21-92AA-37BE5704D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Project Objectives</a:t>
            </a:r>
            <a:endParaRPr lang="en-US" b="1" dirty="0">
              <a:latin typeface="Arial"/>
              <a:cs typeface="Arial" panose="020B0604020202020204" pitchFamily="34" charset="0"/>
            </a:endParaRPr>
          </a:p>
          <a:p>
            <a:r>
              <a:rPr lang="en-US" dirty="0">
                <a:latin typeface="Arial"/>
                <a:cs typeface="Arial"/>
              </a:rPr>
              <a:t>Enable </a:t>
            </a:r>
            <a:r>
              <a:rPr lang="en-US" b="1" dirty="0" err="1">
                <a:latin typeface="Arial"/>
                <a:cs typeface="Arial"/>
              </a:rPr>
              <a:t>TileLink</a:t>
            </a:r>
            <a:r>
              <a:rPr lang="en-US" b="1" dirty="0">
                <a:latin typeface="Arial"/>
                <a:cs typeface="Arial"/>
              </a:rPr>
              <a:t>-UL</a:t>
            </a:r>
            <a:r>
              <a:rPr lang="en-US" dirty="0">
                <a:latin typeface="Arial"/>
                <a:cs typeface="Arial"/>
              </a:rPr>
              <a:t> communication within the RISC-V processor </a:t>
            </a:r>
          </a:p>
          <a:p>
            <a:r>
              <a:rPr lang="en-US" dirty="0">
                <a:latin typeface="Arial"/>
                <a:cs typeface="Arial"/>
              </a:rPr>
              <a:t>Implement standardized </a:t>
            </a:r>
            <a:r>
              <a:rPr lang="en-US" b="1" dirty="0">
                <a:latin typeface="Arial"/>
                <a:cs typeface="Arial"/>
              </a:rPr>
              <a:t>Host and Device Adapters </a:t>
            </a:r>
          </a:p>
          <a:p>
            <a:r>
              <a:rPr lang="en-US" dirty="0">
                <a:latin typeface="Arial"/>
                <a:cs typeface="Arial"/>
              </a:rPr>
              <a:t>Handle </a:t>
            </a:r>
            <a:r>
              <a:rPr lang="en-US" b="1" dirty="0">
                <a:latin typeface="Arial"/>
                <a:cs typeface="Arial"/>
              </a:rPr>
              <a:t>misaligned memory accesses </a:t>
            </a:r>
            <a:r>
              <a:rPr lang="en-US" dirty="0">
                <a:latin typeface="Arial"/>
                <a:cs typeface="Arial"/>
              </a:rPr>
              <a:t>via specialized logic </a:t>
            </a:r>
          </a:p>
          <a:p>
            <a:r>
              <a:rPr lang="en-US" dirty="0">
                <a:latin typeface="Arial"/>
                <a:cs typeface="Arial"/>
              </a:rPr>
              <a:t>Execute rigorous </a:t>
            </a:r>
            <a:r>
              <a:rPr lang="en-US" b="1" dirty="0">
                <a:latin typeface="Arial"/>
                <a:cs typeface="Arial"/>
              </a:rPr>
              <a:t>functional verification </a:t>
            </a:r>
            <a:r>
              <a:rPr lang="en-US" dirty="0">
                <a:latin typeface="Arial"/>
                <a:cs typeface="Arial"/>
              </a:rPr>
              <a:t>through simulation </a:t>
            </a:r>
          </a:p>
          <a:p>
            <a:r>
              <a:rPr lang="en-US" dirty="0">
                <a:latin typeface="Arial"/>
                <a:cs typeface="Arial"/>
              </a:rPr>
              <a:t>Validate hardware feasibility on </a:t>
            </a:r>
            <a:r>
              <a:rPr lang="en-US" b="1" dirty="0">
                <a:latin typeface="Arial"/>
                <a:cs typeface="Arial"/>
              </a:rPr>
              <a:t>Intel Cyclone V FPGA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42DF25-D712-3949-5A46-AE9A02761D76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7380248-4E77-A3D3-90E9-6EB0CC34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5286C33D-47F2-50E3-D054-D0562383D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8F70F8-37EC-DE86-36F2-7DE7A529F33D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4E94A07C-4EAD-E1C0-D618-783CB575A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6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BA75-DACC-42BD-66B0-3717970A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2EE9-F382-9722-A7AC-94D4D325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FA96-BD5A-8984-C08B-8EC7E2E0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RISC-V Architecture</a:t>
            </a:r>
            <a:endParaRPr lang="en-US" b="1" dirty="0">
              <a:latin typeface="Arial"/>
              <a:cs typeface="Arial" panose="020B0604020202020204" pitchFamily="34" charset="0"/>
            </a:endParaRPr>
          </a:p>
          <a:p>
            <a:r>
              <a:rPr lang="en-US" dirty="0">
                <a:latin typeface="Arial"/>
                <a:cs typeface="Arial"/>
              </a:rPr>
              <a:t>Base integer instruction set: </a:t>
            </a:r>
            <a:r>
              <a:rPr lang="en-US" b="1" dirty="0">
                <a:latin typeface="Arial"/>
                <a:cs typeface="Arial"/>
              </a:rPr>
              <a:t>RV32I </a:t>
            </a:r>
          </a:p>
          <a:p>
            <a:r>
              <a:rPr lang="en-US" dirty="0">
                <a:latin typeface="Arial"/>
                <a:cs typeface="Arial"/>
              </a:rPr>
              <a:t>Classic </a:t>
            </a:r>
            <a:r>
              <a:rPr lang="en-US" b="1" dirty="0">
                <a:latin typeface="Arial"/>
                <a:cs typeface="Arial"/>
              </a:rPr>
              <a:t>5-stage pipeline </a:t>
            </a:r>
            <a:r>
              <a:rPr lang="en-US" dirty="0">
                <a:latin typeface="Arial"/>
                <a:cs typeface="Arial"/>
              </a:rPr>
              <a:t>microarchitecture</a:t>
            </a:r>
          </a:p>
          <a:p>
            <a:r>
              <a:rPr lang="en-US" dirty="0">
                <a:latin typeface="Arial"/>
                <a:cs typeface="Arial"/>
              </a:rPr>
              <a:t> Standard stages: IF, ID, EX, </a:t>
            </a:r>
            <a:r>
              <a:rPr lang="en-US" b="1" dirty="0">
                <a:latin typeface="Arial"/>
                <a:cs typeface="Arial"/>
              </a:rPr>
              <a:t>MEM</a:t>
            </a:r>
            <a:r>
              <a:rPr lang="en-US" dirty="0">
                <a:latin typeface="Arial"/>
                <a:cs typeface="Arial"/>
              </a:rPr>
              <a:t>, and WB </a:t>
            </a:r>
          </a:p>
          <a:p>
            <a:r>
              <a:rPr lang="en-US" dirty="0">
                <a:latin typeface="Arial"/>
                <a:cs typeface="Arial"/>
              </a:rPr>
              <a:t>Load-Store Unit (LSU) timing and signal requirements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5253FA-4B7E-D982-5F15-92E7C2887E35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ABD18EB1-D612-132A-B467-D9FE39CF4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6EB4D0F-0AA5-DB72-959F-3049D282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45DD06BB-71CD-EF09-F122-573293616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CB80AD-A410-C33D-2C26-C9C8141DB00B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95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902DD-7AA0-4498-6928-E4D56E29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1ECC-19AE-FB13-389F-D820FD2C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32AB46-A540-DC13-581C-509E383788EE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71B0C0B0-C768-B266-66F4-9F16F63FB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39C88F0-59BB-F861-F579-C23DF4F7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52353A3-07FD-95F5-778C-9B1CC5C22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3291C9-000C-4D0C-E6E6-9790641A0164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845210B7-5AF5-76C4-3942-D34E8D004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7"/>
          <a:stretch>
            <a:fillRect/>
          </a:stretch>
        </p:blipFill>
        <p:spPr>
          <a:xfrm>
            <a:off x="2029614" y="1539286"/>
            <a:ext cx="8132771" cy="44650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539EC0-8B43-A013-78C6-5F2264D2F5A0}"/>
              </a:ext>
            </a:extLst>
          </p:cNvPr>
          <p:cNvSpPr txBox="1"/>
          <p:nvPr/>
        </p:nvSpPr>
        <p:spPr>
          <a:xfrm>
            <a:off x="838200" y="6008994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Datapath of 5-Stage RV32I Pipelined Processor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3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7F7D-90B0-4DA1-8FAD-7AA03564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A292-AADD-86AF-3B26-1CA7C155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3001-42DB-8745-3242-A8B05B22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TileLink</a:t>
            </a:r>
            <a:r>
              <a:rPr lang="en-US" b="1" dirty="0">
                <a:latin typeface="Arial"/>
                <a:cs typeface="Arial"/>
              </a:rPr>
              <a:t>-UL Protocol</a:t>
            </a:r>
          </a:p>
          <a:p>
            <a:r>
              <a:rPr lang="en-US" b="1" dirty="0">
                <a:latin typeface="Arial"/>
                <a:cs typeface="Arial"/>
              </a:rPr>
              <a:t>Master-slave</a:t>
            </a:r>
            <a:r>
              <a:rPr lang="en-US" dirty="0">
                <a:latin typeface="Arial"/>
                <a:cs typeface="Arial"/>
              </a:rPr>
              <a:t> communication topology </a:t>
            </a:r>
          </a:p>
          <a:p>
            <a:r>
              <a:rPr lang="en-US" dirty="0">
                <a:latin typeface="Arial"/>
                <a:cs typeface="Arial"/>
              </a:rPr>
              <a:t>Independent </a:t>
            </a:r>
            <a:r>
              <a:rPr lang="en-US" b="1" dirty="0">
                <a:latin typeface="Arial"/>
                <a:cs typeface="Arial"/>
              </a:rPr>
              <a:t>Channel A</a:t>
            </a:r>
            <a:r>
              <a:rPr lang="en-US" dirty="0">
                <a:latin typeface="Arial"/>
                <a:cs typeface="Arial"/>
              </a:rPr>
              <a:t> (Request) and </a:t>
            </a:r>
            <a:r>
              <a:rPr lang="en-US" b="1" dirty="0">
                <a:latin typeface="Arial"/>
                <a:cs typeface="Arial"/>
              </a:rPr>
              <a:t>Channel D</a:t>
            </a:r>
            <a:r>
              <a:rPr lang="en-US" dirty="0">
                <a:latin typeface="Arial"/>
                <a:cs typeface="Arial"/>
              </a:rPr>
              <a:t> (Response) </a:t>
            </a:r>
          </a:p>
          <a:p>
            <a:r>
              <a:rPr lang="en-US" dirty="0">
                <a:latin typeface="Arial"/>
                <a:cs typeface="Arial"/>
              </a:rPr>
              <a:t>Decoupled </a:t>
            </a:r>
            <a:r>
              <a:rPr lang="en-US" b="1" dirty="0">
                <a:latin typeface="Arial"/>
                <a:cs typeface="Arial"/>
              </a:rPr>
              <a:t>valid-ready</a:t>
            </a:r>
            <a:r>
              <a:rPr lang="en-US" dirty="0">
                <a:latin typeface="Arial"/>
                <a:cs typeface="Arial"/>
              </a:rPr>
              <a:t> handshake mechanism </a:t>
            </a:r>
          </a:p>
          <a:p>
            <a:r>
              <a:rPr lang="en-US" dirty="0">
                <a:latin typeface="Arial"/>
                <a:cs typeface="Arial"/>
              </a:rPr>
              <a:t>Simplified operations: </a:t>
            </a:r>
            <a:r>
              <a:rPr lang="en-US" b="1" dirty="0">
                <a:latin typeface="Arial"/>
                <a:cs typeface="Arial"/>
              </a:rPr>
              <a:t>Get</a:t>
            </a:r>
            <a:r>
              <a:rPr lang="en-US" dirty="0">
                <a:latin typeface="Arial"/>
                <a:cs typeface="Arial"/>
              </a:rPr>
              <a:t> (Read) and </a:t>
            </a:r>
            <a:r>
              <a:rPr lang="en-US" b="1" dirty="0">
                <a:latin typeface="Arial"/>
                <a:cs typeface="Arial"/>
              </a:rPr>
              <a:t>Put</a:t>
            </a:r>
            <a:r>
              <a:rPr lang="en-US" dirty="0">
                <a:latin typeface="Arial"/>
                <a:cs typeface="Arial"/>
              </a:rPr>
              <a:t> (Write)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FCC02E-E135-CD89-3EDA-CBC99A3C2AB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1FDE4B15-E8C4-02B5-6E21-2B72D6D88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EABFC66-33FB-6F85-16A2-0209D477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FB714DA-5B2A-16D3-6861-304FB0D26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23ED09-DA3E-8897-A8C2-AB47F39963F2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60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A436-B325-6F26-6213-ADA35D3E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B2D1-7043-29BE-BC3F-33F54266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6FD7A1-4C29-74BD-201E-39F350FAAD34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6B1237EC-2970-4FE7-3248-C4FEFA992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44F91C3A-DF2B-2357-1E73-C5307D6D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B250C4EA-F450-6D8F-51A8-2730383AA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C7775D-239A-5E01-EA65-584431FD775F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 descr="A table of information&#10;&#10;AI-generated content may be incorrect.">
            <a:extLst>
              <a:ext uri="{FF2B5EF4-FFF2-40B4-BE49-F238E27FC236}">
                <a16:creationId xmlns:a16="http://schemas.microsoft.com/office/drawing/2014/main" id="{44C2733B-8B84-F30F-4F6A-2C6F500DC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795" y="1690689"/>
            <a:ext cx="7602409" cy="42417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BD8841-3C18-7B1A-DA1D-F92DF53E0936}"/>
              </a:ext>
            </a:extLst>
          </p:cNvPr>
          <p:cNvSpPr txBox="1"/>
          <p:nvPr/>
        </p:nvSpPr>
        <p:spPr>
          <a:xfrm>
            <a:off x="838200" y="6008994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Key Signals of the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-UL Protocol - Channel A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64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9ADB9-7FAA-BE69-95E8-50857F2C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4754-0B6A-D45A-0CF7-D5E4E0D7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30291D-9DB6-C20B-1742-4F04EBF04965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D39D5646-8187-72AD-7CD0-321289AF1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69B32525-502A-4CA6-5C65-E40EC3A8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ECDEC6D6-FD27-3A34-157A-99DE35B8E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4C2365-A1E0-17EC-48C7-5C2105F9C65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table with text on it&#10;&#10;AI-generated content may be incorrect.">
            <a:extLst>
              <a:ext uri="{FF2B5EF4-FFF2-40B4-BE49-F238E27FC236}">
                <a16:creationId xmlns:a16="http://schemas.microsoft.com/office/drawing/2014/main" id="{CF830C6B-1496-EFB8-91F0-470166666D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4"/>
          <a:stretch>
            <a:fillRect/>
          </a:stretch>
        </p:blipFill>
        <p:spPr>
          <a:xfrm>
            <a:off x="2291432" y="2286000"/>
            <a:ext cx="7602409" cy="24447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FE3BF5-E214-294F-1004-F841E52220B3}"/>
              </a:ext>
            </a:extLst>
          </p:cNvPr>
          <p:cNvSpPr txBox="1"/>
          <p:nvPr/>
        </p:nvSpPr>
        <p:spPr>
          <a:xfrm>
            <a:off x="838200" y="4802575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Key Signals of the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-UL Protocol - Channel 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A table of information&#10;&#10;AI-generated content may be incorrect.">
            <a:extLst>
              <a:ext uri="{FF2B5EF4-FFF2-40B4-BE49-F238E27FC236}">
                <a16:creationId xmlns:a16="http://schemas.microsoft.com/office/drawing/2014/main" id="{C68EA19E-B4BB-590A-A435-00046A9155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5067"/>
          <a:stretch>
            <a:fillRect/>
          </a:stretch>
        </p:blipFill>
        <p:spPr>
          <a:xfrm>
            <a:off x="2294795" y="1690689"/>
            <a:ext cx="7602409" cy="6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05B5-F316-F022-2B39-051D0BC5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0390-76FD-1EA1-19A9-F87CB7BC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Theoretical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6C84-B13B-F2A6-8ABF-FA9B748C3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Interleaved Memory</a:t>
            </a:r>
          </a:p>
          <a:p>
            <a:r>
              <a:rPr lang="en-US" dirty="0">
                <a:latin typeface="Arial"/>
                <a:cs typeface="Arial"/>
              </a:rPr>
              <a:t>Four independent </a:t>
            </a:r>
            <a:r>
              <a:rPr lang="en-US" b="1" dirty="0">
                <a:latin typeface="Arial"/>
                <a:cs typeface="Arial"/>
              </a:rPr>
              <a:t>8-bit memory banks </a:t>
            </a:r>
          </a:p>
          <a:p>
            <a:r>
              <a:rPr lang="en-US" dirty="0">
                <a:latin typeface="Arial"/>
                <a:cs typeface="Arial"/>
              </a:rPr>
              <a:t>Supports </a:t>
            </a:r>
            <a:r>
              <a:rPr lang="en-US" b="1" dirty="0">
                <a:latin typeface="Arial"/>
                <a:cs typeface="Arial"/>
              </a:rPr>
              <a:t>misaligned accesses </a:t>
            </a:r>
            <a:r>
              <a:rPr lang="en-US" dirty="0">
                <a:latin typeface="Arial"/>
                <a:cs typeface="Arial"/>
              </a:rPr>
              <a:t>across word boundaries </a:t>
            </a:r>
          </a:p>
          <a:p>
            <a:r>
              <a:rPr lang="en-US" dirty="0">
                <a:latin typeface="Arial"/>
                <a:cs typeface="Arial"/>
              </a:rPr>
              <a:t>Requirement for </a:t>
            </a:r>
            <a:r>
              <a:rPr lang="en-US" b="1" dirty="0">
                <a:latin typeface="Arial"/>
                <a:cs typeface="Arial"/>
              </a:rPr>
              <a:t>address swizzling </a:t>
            </a:r>
            <a:r>
              <a:rPr lang="en-US" dirty="0">
                <a:latin typeface="Arial"/>
                <a:cs typeface="Arial"/>
              </a:rPr>
              <a:t>translation </a:t>
            </a:r>
          </a:p>
          <a:p>
            <a:r>
              <a:rPr lang="en-US" dirty="0">
                <a:latin typeface="Arial"/>
                <a:cs typeface="Arial"/>
              </a:rPr>
              <a:t>Simultaneous access to different </a:t>
            </a:r>
            <a:r>
              <a:rPr lang="en-US" b="1" dirty="0">
                <a:latin typeface="Arial"/>
                <a:cs typeface="Arial"/>
              </a:rPr>
              <a:t>row indices </a:t>
            </a:r>
          </a:p>
          <a:p>
            <a:r>
              <a:rPr lang="en-US" dirty="0">
                <a:latin typeface="Arial"/>
                <a:cs typeface="Arial"/>
              </a:rPr>
              <a:t>Bridging flat-addressed bus with </a:t>
            </a:r>
            <a:r>
              <a:rPr lang="en-US" b="1" dirty="0">
                <a:latin typeface="Arial"/>
                <a:cs typeface="Arial"/>
              </a:rPr>
              <a:t>interleaved banks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348C71-3A92-9062-416B-03DB27F4791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619913A-0607-5922-C624-3E583091E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36C7026-A696-8E7C-417C-F2F734A9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5B6B39C0-2961-2B0F-9278-B91D0CE2E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7E190E-9C5F-3F36-946A-0D9647234F64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5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2A8B-7224-83B9-EA0F-8C1DA32B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EF79-BC2D-7D9A-B22C-94CD49EA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3F7D-65C1-A2B7-DE84-E62A4923E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Top-Level Architecture</a:t>
            </a:r>
          </a:p>
          <a:p>
            <a:r>
              <a:rPr lang="en-US" dirty="0">
                <a:latin typeface="Arial"/>
                <a:cs typeface="Arial"/>
              </a:rPr>
              <a:t>Integration of RISC-V core and </a:t>
            </a:r>
            <a:r>
              <a:rPr lang="en-US" b="1" dirty="0">
                <a:latin typeface="Arial"/>
                <a:cs typeface="Arial"/>
              </a:rPr>
              <a:t>Interconnect Manager </a:t>
            </a:r>
          </a:p>
          <a:p>
            <a:r>
              <a:rPr lang="en-US" dirty="0">
                <a:latin typeface="Arial"/>
                <a:cs typeface="Arial"/>
              </a:rPr>
              <a:t>Standardized </a:t>
            </a:r>
            <a:r>
              <a:rPr lang="en-US" b="1" dirty="0">
                <a:latin typeface="Arial"/>
                <a:cs typeface="Arial"/>
              </a:rPr>
              <a:t>SoC abstraction </a:t>
            </a:r>
            <a:r>
              <a:rPr lang="en-US" dirty="0">
                <a:latin typeface="Arial"/>
                <a:cs typeface="Arial"/>
              </a:rPr>
              <a:t>layer </a:t>
            </a:r>
          </a:p>
          <a:p>
            <a:r>
              <a:rPr lang="en-US" dirty="0">
                <a:latin typeface="Arial"/>
                <a:cs typeface="Arial"/>
              </a:rPr>
              <a:t>System clock source: </a:t>
            </a:r>
            <a:r>
              <a:rPr lang="en-US" b="1" dirty="0">
                <a:latin typeface="Arial"/>
                <a:cs typeface="Arial"/>
              </a:rPr>
              <a:t>50 MHz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6B2B2D-DDFC-C0A4-5858-8C62916DA359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72D076AB-7916-D83F-0E88-9CAA690F4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5AE6541-017A-32C0-9C88-961DD5AA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0E031563-155A-F655-D09D-AC61FB592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6F6701-6E9D-7611-0DAD-975DAF03FFF6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1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ADC5-1F52-79AB-1FFD-8D63291D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A5D9-4F10-FEE5-8DB8-A64871A1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7ABC6D-365A-6242-EF66-B461D320F42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C5D3A665-E3A4-B41D-1B43-2BA1B6DAE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2A98E9C1-A521-DCA1-8EF2-B8279607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F15C4B58-0B2F-F536-3140-9D7580295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D6564-9153-AF93-B866-ED1897CCEDBC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B9B6CC-B9E6-5208-6C93-01B29B7159BE}"/>
              </a:ext>
            </a:extLst>
          </p:cNvPr>
          <p:cNvSpPr txBox="1"/>
          <p:nvPr/>
        </p:nvSpPr>
        <p:spPr>
          <a:xfrm>
            <a:off x="838200" y="4699824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Top-Level System Architecture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07C81609-6452-3BF0-4EF5-B15F866E9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" t="6971" r="2061" b="7403"/>
          <a:stretch>
            <a:fillRect/>
          </a:stretch>
        </p:blipFill>
        <p:spPr>
          <a:xfrm>
            <a:off x="831476" y="1977252"/>
            <a:ext cx="10515599" cy="26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8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F63F-4415-0852-7D05-9EB29058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DC8C-A67C-D294-6340-1E6283B5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662B-22F2-B2B9-B569-0AD4E1C4A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TileLink</a:t>
            </a:r>
            <a:r>
              <a:rPr lang="en-US" b="1" dirty="0">
                <a:latin typeface="Arial"/>
                <a:cs typeface="Arial"/>
              </a:rPr>
              <a:t> Manager</a:t>
            </a:r>
          </a:p>
          <a:p>
            <a:r>
              <a:rPr lang="en-US" dirty="0">
                <a:latin typeface="Arial"/>
                <a:cs typeface="Arial"/>
              </a:rPr>
              <a:t>Enforcement of </a:t>
            </a:r>
            <a:r>
              <a:rPr lang="en-US" b="1" dirty="0">
                <a:latin typeface="Arial"/>
                <a:cs typeface="Arial"/>
              </a:rPr>
              <a:t>standard interfaces </a:t>
            </a:r>
            <a:r>
              <a:rPr lang="en-US" dirty="0">
                <a:latin typeface="Arial"/>
                <a:cs typeface="Arial"/>
              </a:rPr>
              <a:t>between CPU and memory </a:t>
            </a:r>
          </a:p>
          <a:p>
            <a:r>
              <a:rPr lang="en-US" dirty="0">
                <a:latin typeface="Arial"/>
                <a:cs typeface="Arial"/>
              </a:rPr>
              <a:t>Direct mapping of </a:t>
            </a:r>
            <a:r>
              <a:rPr lang="en-US" b="1" dirty="0">
                <a:latin typeface="Arial"/>
                <a:cs typeface="Arial"/>
              </a:rPr>
              <a:t>32-bit addresses </a:t>
            </a:r>
            <a:r>
              <a:rPr lang="en-US" dirty="0">
                <a:latin typeface="Arial"/>
                <a:cs typeface="Arial"/>
              </a:rPr>
              <a:t>to Host Adapter </a:t>
            </a:r>
          </a:p>
          <a:p>
            <a:r>
              <a:rPr lang="en-US" dirty="0">
                <a:latin typeface="Arial"/>
                <a:cs typeface="Arial"/>
              </a:rPr>
              <a:t>Byte-granularity support via </a:t>
            </a:r>
            <a:r>
              <a:rPr lang="en-US" b="1" dirty="0">
                <a:latin typeface="Arial"/>
                <a:cs typeface="Arial"/>
              </a:rPr>
              <a:t>write masks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DBF276-0280-B378-142F-E34B7F1C5B6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F0C2CE3-0B89-9792-4285-E0BDF49B9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C32D9F9-9FCE-994F-70F1-EEBF1504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03CB792D-19DB-C925-D3A2-E0D269286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44CE1D-6335-2A70-28DF-2DA153FC26AC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9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71A2-43E1-6EDB-638F-8AAF5BAA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44C4-42D2-D990-9D8A-9716378D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6B97-C4A9-BA3F-2280-B746518D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TileLink</a:t>
            </a:r>
            <a:r>
              <a:rPr lang="en-US" b="1" dirty="0">
                <a:latin typeface="Arial"/>
                <a:cs typeface="Arial"/>
              </a:rPr>
              <a:t> Manager</a:t>
            </a:r>
          </a:p>
          <a:p>
            <a:r>
              <a:rPr lang="en-US" dirty="0">
                <a:latin typeface="Arial"/>
                <a:cs typeface="Arial"/>
              </a:rPr>
              <a:t>Enforcement of </a:t>
            </a:r>
            <a:r>
              <a:rPr lang="en-US" b="1" dirty="0">
                <a:latin typeface="Arial"/>
                <a:cs typeface="Arial"/>
              </a:rPr>
              <a:t>standard interfaces </a:t>
            </a:r>
            <a:r>
              <a:rPr lang="en-US" dirty="0">
                <a:latin typeface="Arial"/>
                <a:cs typeface="Arial"/>
              </a:rPr>
              <a:t>between CPU and memory </a:t>
            </a:r>
          </a:p>
          <a:p>
            <a:r>
              <a:rPr lang="en-US" dirty="0">
                <a:latin typeface="Arial"/>
                <a:cs typeface="Arial"/>
              </a:rPr>
              <a:t>Direct mapping of </a:t>
            </a:r>
            <a:r>
              <a:rPr lang="en-US" b="1" dirty="0">
                <a:latin typeface="Arial"/>
                <a:cs typeface="Arial"/>
              </a:rPr>
              <a:t>32-bit addresses </a:t>
            </a:r>
            <a:r>
              <a:rPr lang="en-US" dirty="0">
                <a:latin typeface="Arial"/>
                <a:cs typeface="Arial"/>
              </a:rPr>
              <a:t>to Host Adapter </a:t>
            </a:r>
          </a:p>
          <a:p>
            <a:r>
              <a:rPr lang="en-US" dirty="0">
                <a:latin typeface="Arial"/>
                <a:cs typeface="Arial"/>
              </a:rPr>
              <a:t>Byte-granularity support via </a:t>
            </a:r>
            <a:r>
              <a:rPr lang="en-US" b="1" dirty="0">
                <a:latin typeface="Arial"/>
                <a:cs typeface="Arial"/>
              </a:rPr>
              <a:t>write masks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3A2BE-68A1-8E4B-E91A-6DB66BC1F173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2E215D27-0C40-78B7-5DBE-70D0CBE0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F1E2BBC-542D-CCBD-50E4-9DAAD3A9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D924AFD0-0502-A919-E204-6A63A9A0C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36B76D-242E-9DD7-F8DB-12D23F84E817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0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E0B5-4E1D-7987-FC20-D6A4003A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01DB-4540-4C58-BA0A-FEAB48E5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33A038-0F7E-7C19-5F24-22AF87B8E146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852BA98-3414-2025-CFBC-A76811D59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9FD18CEC-6A8F-6EC2-BD8B-6EE5E7EF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CD039876-3B7F-5B2D-1814-5C19DF7D2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D54B1-050D-DE27-8A23-8EA7FE21550D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AC5D1F-EB2A-8844-AF68-510FA7871C86}"/>
              </a:ext>
            </a:extLst>
          </p:cNvPr>
          <p:cNvSpPr txBox="1"/>
          <p:nvPr/>
        </p:nvSpPr>
        <p:spPr>
          <a:xfrm>
            <a:off x="838200" y="5950800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Internal Structure of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3F2D241E-6929-8A15-6FA5-0606568AB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" t="3226" r="1449" b="3191"/>
          <a:stretch>
            <a:fillRect/>
          </a:stretch>
        </p:blipFill>
        <p:spPr>
          <a:xfrm>
            <a:off x="838200" y="1640238"/>
            <a:ext cx="10515599" cy="42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06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BC83-F4E9-5396-52FF-D660C9C5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CFF8-DF6E-6288-A8EC-9C8668D3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2689F3-EBD8-6A08-5CF2-AD4129F9F12E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5C24CA43-FF69-9D79-9A26-06732D1F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1BEB537-7C42-BB7A-7876-C7EB973F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92B2DA7-59A5-1CBD-5343-834577487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BA772F-3015-3A19-4079-CC5E49C4A9FC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C06CC-0D55-BBC7-DCC9-1C5BD3BEAD25}"/>
              </a:ext>
            </a:extLst>
          </p:cNvPr>
          <p:cNvSpPr txBox="1"/>
          <p:nvPr/>
        </p:nvSpPr>
        <p:spPr>
          <a:xfrm>
            <a:off x="838200" y="3525100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 Signals - System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ACAECE2C-0284-123B-41D7-E1DB6A47B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75" y="1716613"/>
            <a:ext cx="10515600" cy="171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5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EBCD-19E6-BE73-6E59-58F4717B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6374-C29C-87BD-AB8C-2BC3C940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91E817-CA42-83A6-2550-B3809A8C52B5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A865871D-7302-8C95-0B94-2CB145F16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E727A081-881A-E3A9-FD1C-591425FD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ED1064ED-F291-B750-7DBB-62CFFB14C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14565C-BD15-16D7-9F51-0801C19A6274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1DAEF-4243-04F4-F413-F3EEF504ED14}"/>
              </a:ext>
            </a:extLst>
          </p:cNvPr>
          <p:cNvSpPr txBox="1"/>
          <p:nvPr/>
        </p:nvSpPr>
        <p:spPr>
          <a:xfrm>
            <a:off x="838200" y="4693500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 Signals – Processor Side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48677EE-4CC4-B32D-B744-F205A9175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09636"/>
            <a:ext cx="10508875" cy="2536740"/>
          </a:xfrm>
          <a:prstGeom prst="rect">
            <a:avLst/>
          </a:prstGeom>
        </p:spPr>
      </p:pic>
      <p:pic>
        <p:nvPicPr>
          <p:cNvPr id="12" name="Picture 1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7E88F58-8034-9BB3-C8FA-89AE2880CF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2563"/>
          <a:stretch>
            <a:fillRect/>
          </a:stretch>
        </p:blipFill>
        <p:spPr>
          <a:xfrm>
            <a:off x="831475" y="1716614"/>
            <a:ext cx="10515600" cy="46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59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DC528-6321-7AC7-28B5-8192DFCA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2B2A-FB54-CC5D-4B3B-75AE9DE6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283848-F76F-9814-1B72-B94E8D2A6B32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A05C90F-B40C-75C4-E97F-D9424015E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3AC6CD34-2190-72C7-670B-85DE1D0E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42E6350A-34DE-E771-93DC-BE115462B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753341-BA7F-B748-DBC6-672942C6956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6DFB9313-7F4A-9DEC-17CE-3425A52BF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174266"/>
            <a:ext cx="10515599" cy="2494148"/>
          </a:xfrm>
          <a:prstGeom prst="rect">
            <a:avLst/>
          </a:prstGeom>
        </p:spPr>
      </p:pic>
      <p:pic>
        <p:nvPicPr>
          <p:cNvPr id="12" name="Picture 1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AD429F75-8445-D18F-CE28-9F2B0C96E0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2563"/>
          <a:stretch>
            <a:fillRect/>
          </a:stretch>
        </p:blipFill>
        <p:spPr>
          <a:xfrm>
            <a:off x="831475" y="1716614"/>
            <a:ext cx="10515600" cy="4698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B55EE4-2B71-FB11-56AF-64666B115AB1}"/>
              </a:ext>
            </a:extLst>
          </p:cNvPr>
          <p:cNvSpPr txBox="1"/>
          <p:nvPr/>
        </p:nvSpPr>
        <p:spPr>
          <a:xfrm>
            <a:off x="838200" y="4769700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 Signals – Processor Side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790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70E3-81BD-6C4D-9871-75727B0F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7DD7-1351-59F8-BF2A-A2656A39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1A4A5E-05A9-7494-2519-122683D556AC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5BDF7619-ACE3-B3A7-1FD0-293CC4EEB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3515DD2D-9777-3C08-A9D6-CE0204F9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BCE083F4-78C0-7F4A-B29A-A8E78A014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99508-6186-16C2-8CC8-5FDC425A9082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36175A-4D48-43E5-C8CA-4BD5653AF792}"/>
              </a:ext>
            </a:extLst>
          </p:cNvPr>
          <p:cNvSpPr txBox="1"/>
          <p:nvPr/>
        </p:nvSpPr>
        <p:spPr>
          <a:xfrm>
            <a:off x="838200" y="6006680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 Signals – Memory Side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BF8A7517-62CA-39C2-EB2B-07C96B8272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2" b="-1"/>
          <a:stretch>
            <a:fillRect/>
          </a:stretch>
        </p:blipFill>
        <p:spPr>
          <a:xfrm>
            <a:off x="837304" y="2179024"/>
            <a:ext cx="10508875" cy="3738740"/>
          </a:xfrm>
          <a:prstGeom prst="rect">
            <a:avLst/>
          </a:prstGeom>
        </p:spPr>
      </p:pic>
      <p:pic>
        <p:nvPicPr>
          <p:cNvPr id="10" name="Picture 9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A3F5DF7B-0DBA-0920-F459-2D5D8B38E4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2563"/>
          <a:stretch>
            <a:fillRect/>
          </a:stretch>
        </p:blipFill>
        <p:spPr>
          <a:xfrm>
            <a:off x="831475" y="1716614"/>
            <a:ext cx="10515600" cy="46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28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085B-D1A9-2DDB-A2C5-E1FDE2F0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20B3-676D-69AA-1F8D-18C79653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5C5396-B696-15F2-B3BE-B41B820C10BA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B6D07A0D-6557-AA21-8894-6BA22DEF9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3E181C7-0FE7-B44C-90A8-5ED438CE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CFE8869-B4A8-7F4E-3A07-78C91B737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A4F9A7-4E2B-A75C-3E71-B2698E38206F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F813E-D020-EC24-7BCF-CCCFFC67C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53902"/>
            <a:ext cx="10515600" cy="33917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528586-D95A-04CE-A251-FBA7CFAF1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49839"/>
            <a:ext cx="10515600" cy="456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CDA094-D025-4B6A-DE74-F3F9FF5D83B6}"/>
              </a:ext>
            </a:extLst>
          </p:cNvPr>
          <p:cNvSpPr txBox="1"/>
          <p:nvPr/>
        </p:nvSpPr>
        <p:spPr>
          <a:xfrm>
            <a:off x="838200" y="5533892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vi-VN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-UL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vi-VN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Bus</a:t>
            </a:r>
            <a:r>
              <a:rPr lang="vi-VN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– </a:t>
            </a:r>
            <a:r>
              <a:rPr lang="vi-VN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Channel</a:t>
            </a:r>
            <a:r>
              <a:rPr lang="vi-VN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3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D92C-6EB2-C9C1-793B-5B62E4D0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0E22-BBD4-6F98-20C8-95E14BA4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8E3FD8-7624-743B-4D18-0BB1313C591D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94D7165E-5B10-CD1D-12ED-56C7ABC5F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69152D4-2E6F-C3A8-685F-F3009512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E7D6D073-4B47-7DEC-8BEA-97FCBFDCB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0BFDE6-485A-5F4D-217C-6B060C89A556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BE022-00D7-7F8C-9784-466E249C2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77419"/>
            <a:ext cx="10508875" cy="3363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292C3A-DD56-59D1-BDEF-1EE8F2C8C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56117"/>
            <a:ext cx="10508875" cy="456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4FBF1-7D4C-084B-8056-8511BD5C510A}"/>
              </a:ext>
            </a:extLst>
          </p:cNvPr>
          <p:cNvSpPr txBox="1"/>
          <p:nvPr/>
        </p:nvSpPr>
        <p:spPr>
          <a:xfrm>
            <a:off x="838200" y="5521192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vi-VN" sz="2000" i="1" dirty="0">
                <a:ea typeface="+mn-lt"/>
                <a:cs typeface="Arial" panose="020B0604020202020204" pitchFamily="34" charset="0"/>
              </a:rPr>
              <a:t>-UL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vi-VN" sz="2000" i="1" dirty="0" err="1">
                <a:ea typeface="+mn-lt"/>
                <a:cs typeface="Arial" panose="020B0604020202020204" pitchFamily="34" charset="0"/>
              </a:rPr>
              <a:t>Bus</a:t>
            </a:r>
            <a:r>
              <a:rPr lang="vi-VN" sz="2000" i="1" dirty="0">
                <a:ea typeface="+mn-lt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– </a:t>
            </a:r>
            <a:r>
              <a:rPr lang="vi-VN" sz="2000" i="1" dirty="0" err="1">
                <a:ea typeface="+mn-lt"/>
                <a:cs typeface="Arial" panose="020B0604020202020204" pitchFamily="34" charset="0"/>
              </a:rPr>
              <a:t>Channel</a:t>
            </a:r>
            <a:r>
              <a:rPr lang="vi-VN" sz="2000" i="1" dirty="0">
                <a:ea typeface="+mn-lt"/>
                <a:cs typeface="Arial" panose="020B0604020202020204" pitchFamily="34" charset="0"/>
              </a:rPr>
              <a:t> 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1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A705-52C2-1813-5082-B250486D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E165-211D-78A0-C25D-D62AE25D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43F3-A6F9-923C-ED22-904A6137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Host Adapter</a:t>
            </a:r>
          </a:p>
          <a:p>
            <a:r>
              <a:rPr lang="en-US" b="1" dirty="0">
                <a:latin typeface="Arial"/>
                <a:cs typeface="Arial"/>
              </a:rPr>
              <a:t>Opcode generation </a:t>
            </a:r>
            <a:r>
              <a:rPr lang="en-US" dirty="0">
                <a:latin typeface="Arial"/>
                <a:cs typeface="Arial"/>
              </a:rPr>
              <a:t>logic (Get, </a:t>
            </a:r>
            <a:r>
              <a:rPr lang="en-US" dirty="0" err="1">
                <a:latin typeface="Arial"/>
                <a:cs typeface="Arial"/>
              </a:rPr>
              <a:t>PutFull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PutPartial</a:t>
            </a:r>
            <a:r>
              <a:rPr lang="en-US" dirty="0">
                <a:latin typeface="Arial"/>
                <a:cs typeface="Arial"/>
              </a:rPr>
              <a:t>) </a:t>
            </a:r>
          </a:p>
          <a:p>
            <a:r>
              <a:rPr lang="en-US" dirty="0">
                <a:latin typeface="Arial"/>
                <a:cs typeface="Arial"/>
              </a:rPr>
              <a:t>Request phase control via </a:t>
            </a:r>
            <a:r>
              <a:rPr lang="en-US" b="1" dirty="0" err="1">
                <a:latin typeface="Arial"/>
                <a:cs typeface="Arial"/>
              </a:rPr>
              <a:t>a_valid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 </a:t>
            </a:r>
            <a:r>
              <a:rPr lang="en-US" b="1" dirty="0" err="1">
                <a:latin typeface="Arial"/>
                <a:cs typeface="Arial"/>
              </a:rPr>
              <a:t>a_ready</a:t>
            </a:r>
            <a:r>
              <a:rPr lang="en-US" b="1" dirty="0">
                <a:latin typeface="Arial"/>
                <a:cs typeface="Arial"/>
              </a:rPr>
              <a:t> </a:t>
            </a:r>
          </a:p>
          <a:p>
            <a:r>
              <a:rPr lang="en-US" dirty="0">
                <a:latin typeface="Arial"/>
                <a:cs typeface="Arial"/>
              </a:rPr>
              <a:t>Response monitoring for </a:t>
            </a:r>
            <a:r>
              <a:rPr lang="en-US" b="1" dirty="0" err="1">
                <a:latin typeface="Arial"/>
                <a:cs typeface="Arial"/>
              </a:rPr>
              <a:t>d_valid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 </a:t>
            </a:r>
            <a:r>
              <a:rPr lang="en-US" b="1" dirty="0">
                <a:latin typeface="Arial"/>
                <a:cs typeface="Arial"/>
              </a:rPr>
              <a:t>data capture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9426B2-5ACB-1752-6B01-CC37A811D640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BBE72779-00AF-AB6D-B37B-D65F5F524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A0C0109-ACB6-E4FD-6E16-2755845E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012E8760-B2FC-4BAC-F640-CF6F20949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60AF30-84E2-AE10-5596-8A40EDDE1B87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36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4392-3170-F42D-A23D-D9DADE2E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28B6-98AE-6EAC-797C-0DC816A7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EB284C-C095-7B63-1B97-E8D6F415A23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4B3AE043-43D8-C86B-2E2B-D9BF0AE5D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04996C2-FE74-E68C-D4B9-853AFFB1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6A30D9EB-24AF-866A-0353-17613A60E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F1FDCF-D8CB-C5BB-7BA5-60B8002FD9D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F18D303-7F9D-5ED3-1AC4-B0BF12451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" t="4352" r="3208" b="4352"/>
          <a:stretch>
            <a:fillRect/>
          </a:stretch>
        </p:blipFill>
        <p:spPr>
          <a:xfrm>
            <a:off x="2929325" y="1563399"/>
            <a:ext cx="6333349" cy="43674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D3645-5C17-D7B3-A068-A4532A3BC64D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Host Adapter Logic Flow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769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99CB-90D9-52AA-433E-B8352948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9751-EFB4-8795-0720-929DDE3E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8046-DCE3-D4D7-AA76-1D13A795F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Device Adapter</a:t>
            </a:r>
          </a:p>
          <a:p>
            <a:r>
              <a:rPr lang="en-US" dirty="0">
                <a:latin typeface="Arial"/>
                <a:cs typeface="Arial"/>
              </a:rPr>
              <a:t>Automatic </a:t>
            </a:r>
            <a:r>
              <a:rPr lang="en-US" b="1" dirty="0">
                <a:latin typeface="Arial"/>
                <a:cs typeface="Arial"/>
              </a:rPr>
              <a:t>address truncation </a:t>
            </a:r>
            <a:r>
              <a:rPr lang="en-US" dirty="0">
                <a:latin typeface="Arial"/>
                <a:cs typeface="Arial"/>
              </a:rPr>
              <a:t>for 64 KB memory space </a:t>
            </a:r>
          </a:p>
          <a:p>
            <a:r>
              <a:rPr lang="en-US" dirty="0">
                <a:latin typeface="Arial"/>
                <a:cs typeface="Arial"/>
              </a:rPr>
              <a:t>Command decoding for </a:t>
            </a:r>
            <a:r>
              <a:rPr lang="en-US" b="1" dirty="0">
                <a:latin typeface="Arial"/>
                <a:cs typeface="Arial"/>
              </a:rPr>
              <a:t>SRAM control </a:t>
            </a:r>
            <a:r>
              <a:rPr lang="en-US" dirty="0">
                <a:latin typeface="Arial"/>
                <a:cs typeface="Arial"/>
              </a:rPr>
              <a:t>lines </a:t>
            </a:r>
          </a:p>
          <a:p>
            <a:r>
              <a:rPr lang="en-US" b="1" dirty="0">
                <a:latin typeface="Arial"/>
                <a:cs typeface="Arial"/>
              </a:rPr>
              <a:t>Synchronous acknowledgment </a:t>
            </a:r>
            <a:r>
              <a:rPr lang="en-US" dirty="0">
                <a:latin typeface="Arial"/>
                <a:cs typeface="Arial"/>
              </a:rPr>
              <a:t>loop for 1-cycle latency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0E909F-3486-388C-2499-98429550D0F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4C623161-C42F-92AD-855F-5E1E58C01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7F3E6C9-28EA-EA0C-BBDF-0EA28239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9D355FA0-B0DB-C2BF-12E3-4A63B4552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9F1C26-9EC6-CC50-C730-EF114276102D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13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BE3E-69AD-91C0-A138-222B4987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1FFB-DA46-0544-13B6-721CCD44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52890C-25C1-2F76-93F9-1A07BDBE5481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27AC0B0D-ED2E-0028-2F6B-C910B4F0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D59E581-1780-12C2-671E-026FEF8D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43F98494-6595-FBFA-AF27-F1FF46B6A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AB2100-2583-5CE5-139C-D16BB08A954D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B02E8E85-5917-3E19-D87D-525C5AAB3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981" r="2603" b="4075"/>
          <a:stretch>
            <a:fillRect/>
          </a:stretch>
        </p:blipFill>
        <p:spPr>
          <a:xfrm>
            <a:off x="3135568" y="1546542"/>
            <a:ext cx="5920864" cy="4384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7BA3DA-4821-AC77-1366-F8A9E840DAEC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Device Adapter Logic Flow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22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527C-56E3-EC6C-AE60-EB191BA7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29FD-7F74-EB2F-8776-C8CB2BCF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AD1E7-3B7D-2A4C-2CC4-4CCCEE51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Address Decoupling Logic</a:t>
            </a:r>
          </a:p>
          <a:p>
            <a:r>
              <a:rPr lang="en-US" b="1" dirty="0">
                <a:latin typeface="Arial"/>
                <a:cs typeface="Arial"/>
              </a:rPr>
              <a:t>Misalignment handling </a:t>
            </a:r>
            <a:r>
              <a:rPr lang="en-US" dirty="0">
                <a:latin typeface="Arial"/>
                <a:cs typeface="Arial"/>
              </a:rPr>
              <a:t>for Offset = 0, 1, 2, 3 </a:t>
            </a:r>
          </a:p>
          <a:p>
            <a:r>
              <a:rPr lang="en-US" dirty="0">
                <a:latin typeface="Arial"/>
                <a:cs typeface="Arial"/>
              </a:rPr>
              <a:t>Dynamic calculation of </a:t>
            </a:r>
            <a:r>
              <a:rPr lang="en-US" b="1" dirty="0" err="1">
                <a:latin typeface="Arial"/>
                <a:cs typeface="Arial"/>
              </a:rPr>
              <a:t>idx_base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 </a:t>
            </a:r>
            <a:r>
              <a:rPr lang="en-US" b="1" dirty="0" err="1">
                <a:latin typeface="Arial"/>
                <a:cs typeface="Arial"/>
              </a:rPr>
              <a:t>idx_next</a:t>
            </a:r>
            <a:r>
              <a:rPr lang="en-US" b="1" dirty="0">
                <a:latin typeface="Arial"/>
                <a:cs typeface="Arial"/>
              </a:rPr>
              <a:t> </a:t>
            </a:r>
          </a:p>
          <a:p>
            <a:r>
              <a:rPr lang="en-US" b="1" dirty="0">
                <a:latin typeface="Arial"/>
                <a:cs typeface="Arial"/>
              </a:rPr>
              <a:t>Bank-specific</a:t>
            </a:r>
            <a:r>
              <a:rPr lang="en-US" dirty="0">
                <a:latin typeface="Arial"/>
                <a:cs typeface="Arial"/>
              </a:rPr>
              <a:t> write enable gating logic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F32167-BE55-1420-04AB-70B318060E33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8336AAAB-C91B-BE60-98CA-EFA583AD9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65D9397-17A6-7E67-6438-EE769A9E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1198490-F984-762C-8B78-5D1A6DFFB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D4EE6E-2BA9-0D84-B280-76F978870B6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98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584B-925F-C8B8-0B60-54823588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CCB7-D69E-8A88-8FAE-01FEC47F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58644-5B2C-5272-76B8-F2F8D10116C4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1E3F0951-5E6B-B896-7957-2A2EE03C2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B0A5005-5192-1579-3230-C59A45FB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72A00D4F-072B-024D-1A78-40E2F56C7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1B5668-1735-A07D-F723-C664CFCC8B9A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data decoder&#10;&#10;AI-generated content may be incorrect.">
            <a:extLst>
              <a:ext uri="{FF2B5EF4-FFF2-40B4-BE49-F238E27FC236}">
                <a16:creationId xmlns:a16="http://schemas.microsoft.com/office/drawing/2014/main" id="{A179BF47-CB49-ED65-9BC9-79201BA32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" t="3981" r="2819" b="3241"/>
          <a:stretch>
            <a:fillRect/>
          </a:stretch>
        </p:blipFill>
        <p:spPr>
          <a:xfrm>
            <a:off x="3228975" y="1553358"/>
            <a:ext cx="5734050" cy="4418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ACF691-8277-CCBA-3858-F81A272DF0CE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Address Decoupling Circuit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15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9182-E4D7-CB30-F782-B1653558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5BE7-DC7D-2E25-F69F-8CB0BFA9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Design -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3D92C3-CE64-2439-1B30-93CA91668F1A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E47E80F9-2008-584F-2A5E-1C4B48489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313C3A3-9DD1-D400-C3CE-96C90115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58749238-CB72-A9DF-66D6-BCA73A9F2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E0BFAE-39BB-5680-AFE3-6CFDA9182FAF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99CEF-9625-ECBD-F575-AEFD2A943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461" y="1597342"/>
            <a:ext cx="8972352" cy="4295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7575DF-517D-457E-F2C8-DB2B456562CA}"/>
              </a:ext>
            </a:extLst>
          </p:cNvPr>
          <p:cNvSpPr txBox="1"/>
          <p:nvPr/>
        </p:nvSpPr>
        <p:spPr>
          <a:xfrm>
            <a:off x="838200" y="59740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Address Decoupling Circuit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634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029A-C8D6-2847-C224-8514F6B5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CC39-2F89-0CFA-34DD-11F7A608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E7841-32D9-616C-369B-1022B9136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Functional Verification</a:t>
            </a:r>
          </a:p>
          <a:p>
            <a:r>
              <a:rPr lang="en-US" dirty="0">
                <a:latin typeface="Arial"/>
                <a:cs typeface="Arial"/>
              </a:rPr>
              <a:t>Visual timing verification using </a:t>
            </a:r>
            <a:r>
              <a:rPr lang="en-US" b="1" dirty="0" err="1">
                <a:latin typeface="Arial"/>
                <a:cs typeface="Arial"/>
              </a:rPr>
              <a:t>SimVision</a:t>
            </a:r>
            <a:r>
              <a:rPr lang="en-US" b="1" dirty="0">
                <a:latin typeface="Arial"/>
                <a:cs typeface="Arial"/>
              </a:rPr>
              <a:t> waveforms </a:t>
            </a:r>
          </a:p>
          <a:p>
            <a:r>
              <a:rPr lang="en-US" dirty="0">
                <a:latin typeface="Arial"/>
                <a:cs typeface="Arial"/>
              </a:rPr>
              <a:t>Full </a:t>
            </a:r>
            <a:r>
              <a:rPr lang="en-US" b="1" dirty="0">
                <a:latin typeface="Arial"/>
                <a:cs typeface="Arial"/>
              </a:rPr>
              <a:t>RV32I compliance </a:t>
            </a:r>
            <a:r>
              <a:rPr lang="en-US" dirty="0">
                <a:latin typeface="Arial"/>
                <a:cs typeface="Arial"/>
              </a:rPr>
              <a:t>via automated test suites </a:t>
            </a:r>
          </a:p>
          <a:p>
            <a:r>
              <a:rPr lang="en-US" dirty="0">
                <a:latin typeface="Arial"/>
                <a:cs typeface="Arial"/>
              </a:rPr>
              <a:t>Successful verification of </a:t>
            </a:r>
            <a:r>
              <a:rPr lang="en-US" b="1" dirty="0">
                <a:latin typeface="Arial"/>
                <a:cs typeface="Arial"/>
              </a:rPr>
              <a:t>misaligned accesses</a:t>
            </a:r>
          </a:p>
          <a:p>
            <a:r>
              <a:rPr lang="en-US" dirty="0">
                <a:latin typeface="Arial"/>
                <a:cs typeface="Arial"/>
              </a:rPr>
              <a:t>Achieved Instruction Per Cycle (</a:t>
            </a:r>
            <a:r>
              <a:rPr lang="en-US" b="1" dirty="0">
                <a:latin typeface="Arial"/>
                <a:cs typeface="Arial"/>
              </a:rPr>
              <a:t>IPC</a:t>
            </a:r>
            <a:r>
              <a:rPr lang="en-US" dirty="0">
                <a:latin typeface="Arial"/>
                <a:cs typeface="Arial"/>
              </a:rPr>
              <a:t>) ratio of </a:t>
            </a:r>
            <a:r>
              <a:rPr lang="en-US" b="1" dirty="0">
                <a:latin typeface="Arial"/>
                <a:cs typeface="Arial"/>
              </a:rPr>
              <a:t>0.62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A03E2F-6EFD-9E3A-4567-0AC8AB3F05C4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1F3E92E0-D800-88FF-F2F0-1AC2D9FEE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D130C7D-6B38-88A8-0F18-82165B6B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6A12AB7-6665-548A-F79F-EFCA20ED2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D89270-0368-725B-5CCB-E829A0F1091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37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E961-5FCE-BAF0-9059-0A83029B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C03D-A22A-CAB8-D07C-0FC4D476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B90D2-5594-336B-D97A-7AB06CBD44D9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A531CB2B-2F40-CCF0-62F6-ADBFB60C3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CCEB006-8210-6DBE-AF2C-7F0D6347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4F8A98B-1E08-1687-1EA2-DF855C1FD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7D1945-FC22-3B77-E48B-4FA7597A09A4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446541-9E6A-CDA6-BD7D-FEB2E73382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712" y="1597343"/>
            <a:ext cx="9467850" cy="4400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90BC62-40C2-E55F-7D84-E9D78FDBE884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SimVision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Waveform demonstration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77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8158-D38D-E832-54D2-B234ADB3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2CBC-04B8-A2DC-AB2D-C78073AA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5A2E81-9FC7-5E92-3511-FDF1BE01EB68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9C24E87-5322-E243-A3B0-EA8BE26B0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1EFEFCA-59A2-6F86-27EE-711411A6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F69FF9C0-24BE-B060-7C20-E4B733B7C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793064-D800-AF37-E0A1-3D68DC0D51F3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5FCE35-186B-43C7-F927-C9F9E0341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376" y="1597342"/>
            <a:ext cx="9457247" cy="4400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ABB3F-4827-33EF-07AD-70991D31C6BB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SimVision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Waveform demonstration (cont.)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489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BC23-B9D4-6108-02F4-46A75774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79064-CF18-1E7D-1A11-A9856C0A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304A02-7809-654B-1F78-0443787C9C8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969C8F2E-2BEC-4539-B45C-EC60ACB64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90135E4-5375-59A8-3863-C29850E3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A524B739-4C2C-B09F-3FE7-ECEA18112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792D2E-F7FC-D93F-0F1D-06B559620D97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5376AB-AAA9-4551-7F74-831EF8A1F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6" b="6227"/>
          <a:stretch>
            <a:fillRect/>
          </a:stretch>
        </p:blipFill>
        <p:spPr>
          <a:xfrm>
            <a:off x="1116461" y="1597342"/>
            <a:ext cx="9959078" cy="4245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4102BA-863A-AD3D-23DB-FE97E565A671}"/>
              </a:ext>
            </a:extLst>
          </p:cNvPr>
          <p:cNvSpPr txBox="1"/>
          <p:nvPr/>
        </p:nvSpPr>
        <p:spPr>
          <a:xfrm>
            <a:off x="838200" y="5872896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Xcelium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Simulation Log 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46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47B3-7E1E-5D36-6C74-257FF80B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8E87-8B5F-946F-1010-FF96F39B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89C312-E5A3-38E7-86C5-A41397B750FD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23A69D16-3A8C-F821-8012-562B5C25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36CF9FF-2C85-8C86-8C31-5CB930F2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215C220-0620-B846-D5DD-ED655E387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9A152E-DB8E-952E-2DB0-FCD4A62571EC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285865-CF8D-B08B-C192-E39E1699C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6" b="5306"/>
          <a:stretch>
            <a:fillRect/>
          </a:stretch>
        </p:blipFill>
        <p:spPr>
          <a:xfrm>
            <a:off x="1113098" y="1591405"/>
            <a:ext cx="9959078" cy="4341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246701-1A0A-074F-93F2-5E4C05C4C2D6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Xcelium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Simulation (cont.) 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596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E5DA-25ED-E354-7792-AC79765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2862-27E0-0C6A-D9F0-63191E78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63BA-B362-3710-CF9F-7EDF56D52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Synthesis &amp; Resources</a:t>
            </a:r>
          </a:p>
          <a:p>
            <a:r>
              <a:rPr lang="en-US" dirty="0">
                <a:latin typeface="Arial"/>
                <a:cs typeface="Arial"/>
              </a:rPr>
              <a:t>Target Device: </a:t>
            </a:r>
            <a:r>
              <a:rPr lang="en-US" b="1" dirty="0">
                <a:latin typeface="Arial"/>
                <a:cs typeface="Arial"/>
              </a:rPr>
              <a:t>Intel Cyclone V </a:t>
            </a:r>
            <a:r>
              <a:rPr lang="en-US" dirty="0">
                <a:latin typeface="Arial"/>
                <a:cs typeface="Arial"/>
              </a:rPr>
              <a:t>5CSXFC6D6F31C6 </a:t>
            </a:r>
          </a:p>
          <a:p>
            <a:r>
              <a:rPr lang="en-US" dirty="0">
                <a:latin typeface="Arial"/>
                <a:cs typeface="Arial"/>
              </a:rPr>
              <a:t>Low logic overhead: </a:t>
            </a:r>
            <a:r>
              <a:rPr lang="en-US" b="1" dirty="0">
                <a:latin typeface="Arial"/>
                <a:cs typeface="Arial"/>
              </a:rPr>
              <a:t>5% ALM </a:t>
            </a:r>
            <a:r>
              <a:rPr lang="en-US" dirty="0">
                <a:latin typeface="Arial"/>
                <a:cs typeface="Arial"/>
              </a:rPr>
              <a:t>utilization (1,990 ALMs) </a:t>
            </a:r>
          </a:p>
          <a:p>
            <a:r>
              <a:rPr lang="en-US" dirty="0">
                <a:latin typeface="Arial"/>
                <a:cs typeface="Arial"/>
              </a:rPr>
              <a:t>Memory usage: </a:t>
            </a:r>
            <a:r>
              <a:rPr lang="en-US" b="1" dirty="0">
                <a:latin typeface="Arial"/>
                <a:cs typeface="Arial"/>
              </a:rPr>
              <a:t>9% Block RAM </a:t>
            </a:r>
            <a:r>
              <a:rPr lang="en-US" dirty="0">
                <a:latin typeface="Arial"/>
                <a:cs typeface="Arial"/>
              </a:rPr>
              <a:t>bits (526,336 bits) </a:t>
            </a:r>
          </a:p>
          <a:p>
            <a:r>
              <a:rPr lang="en-US" dirty="0">
                <a:latin typeface="Arial"/>
                <a:cs typeface="Arial"/>
              </a:rPr>
              <a:t>Operating frequency: </a:t>
            </a:r>
            <a:r>
              <a:rPr lang="en-US" b="1" dirty="0">
                <a:latin typeface="Arial"/>
                <a:cs typeface="Arial"/>
              </a:rPr>
              <a:t>60.16 MHz Fmax </a:t>
            </a:r>
          </a:p>
          <a:p>
            <a:r>
              <a:rPr lang="en-US" dirty="0">
                <a:latin typeface="Arial"/>
                <a:cs typeface="Arial"/>
              </a:rPr>
              <a:t>Positive timing slack: </a:t>
            </a:r>
            <a:r>
              <a:rPr lang="en-US" b="1" dirty="0">
                <a:latin typeface="Arial"/>
                <a:cs typeface="Arial"/>
              </a:rPr>
              <a:t>3.4 ns </a:t>
            </a:r>
            <a:r>
              <a:rPr lang="en-US" dirty="0">
                <a:latin typeface="Arial"/>
                <a:cs typeface="Arial"/>
              </a:rPr>
              <a:t>safety margin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F32BAB-C899-DE2D-C872-D60787AC9F2D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A821E568-C663-51B0-2E52-E30854A08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A308519-27E4-335A-887D-0BB8115B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13F5573F-2F43-645B-339B-67A922E48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3DBF84-64CA-7993-E447-78B0520C3918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005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1862-A036-430C-15A5-81EEBCC1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9AAE-E135-1C83-C2D6-C04F1BA4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A7B153-814A-4A0A-060E-010CA952A63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E4037131-F459-B7F8-43DB-4CC276F56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3376C19-127A-AFAC-E504-0B6FB299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1B04D11-5580-054B-5320-EA18DAF3C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26E13-FDC3-3651-9D75-50BC3372E6D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8DB900-7B0B-0000-23B7-8EF1C6AFA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75" y="1567712"/>
            <a:ext cx="7816850" cy="4398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7E8FDE-7136-161F-54C9-141A5F51E8A3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Logic Resource Utilization Report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98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D8DA-929F-97FB-8F6C-5F4F9832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15BA-20AE-BFC4-11C2-B39FC809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62CC37-50FA-4B34-9718-3CA778A36460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6D475DE4-E42B-6161-DA82-DE536A27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51DF3DD-DC93-4B1C-91F4-0CE3ADCB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DE7195D2-9197-80B7-51BA-1B75837A1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1330B6-72A7-D51D-2705-CFEED8058E35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3A432-44FE-07E6-30D0-204EF45FE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75" y="1567712"/>
            <a:ext cx="7816850" cy="4398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A456EC-D0B5-A6E4-DDA1-8B8520C891B0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Total Block Memory Bits Report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1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B535F-4E38-E92E-1069-F4ED38DF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4FE2-F129-33B1-47D2-92E1A8EB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F083CD-13C6-D3CB-2813-29B006FBE39D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65155DAB-9129-3129-B07F-7F3BA099C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99739A5-D688-F212-AF15-A6AE7C69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EA914B02-B6CA-CECB-709C-3726C7D55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8E9927-8948-05BE-1DD5-203298A18E9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62664E-1B33-98AE-0053-EABF7C23C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78" y="1563726"/>
            <a:ext cx="7816844" cy="4398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F95DC-64BD-9FBF-13E0-AEA50C43C89F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Fmax Report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720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A3D7-B090-057D-BF21-4EBF9FF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6ADF-F5A4-D846-BB07-7BA2468E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83530F-4A6E-9877-E0ED-96AF18A57EA2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97B1008C-F1CC-8507-FA0E-B3DA6C49C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8847502-5807-DE5E-5337-DA88717A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354E03E-6B46-B13B-50C5-6C2CDAFC6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3E287B-AE3F-4ABB-B24B-501914236324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E3F485-CF06-2C8D-5D8C-5D4000F90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5" y="1563726"/>
            <a:ext cx="7816844" cy="4398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757235-CE82-D36D-3B46-FFEBCAAD127F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interconnection  between the RISC-V Core and the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487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30F6-C20A-90E2-C927-8E143998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66C2-F803-ADD8-AB97-DD36F3E1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D98F42-7888-616C-91E3-6D74FE2BBF2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F02D5981-1A21-9F4C-138A-E69FF0942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CFEA55B-5B3B-DAD7-66A0-0A39456D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6E7D7D6B-A43C-B47B-0A7F-5DBFD7301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04E367-8856-7D23-E3FF-07C548AE8BF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935144BF-3FAB-8F21-0D80-B48CAD35D2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5" y="1563726"/>
            <a:ext cx="7816844" cy="4398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218A33-1FB6-777D-55D0-D9CE7352E645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TileLink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Manager Module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866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9A946-7E88-2081-1BE6-02E303DA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9C8F-0988-2888-4AA8-5D10EAA1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ED6F4-F374-EF4C-0318-FDFA51FD3C18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C2A885AA-648A-DA54-4D8C-1DF392355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78F2AE8-4D63-C548-B835-97A8C62A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F0B8C5A-C82E-7188-023E-781487CA0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E0348-74F1-ED5A-F5B8-0B3A93470768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52440C-DFE8-7F71-C0AA-97270DE387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5" y="1563726"/>
            <a:ext cx="7816844" cy="4398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E5ADFB-F36D-DE0A-9050-263F44C1BD39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Host Adapter Module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23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26EA-A2F7-9D8C-B2BB-7109782B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DBC3-D26E-E43D-8BC1-BF24B64D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70C122-016B-2A13-5736-4E5E9568F8EF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A864588E-A3B6-01E6-9799-ACA85CFA6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5CE8903-B13F-68D1-1AB3-CC1F5304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585EE458-C42B-3C0F-03DF-DC0D7BE3F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182BE3-E56E-7744-985B-B2EC745885B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821BAF-BC46-DD22-6044-5927FC536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5" y="1563726"/>
            <a:ext cx="7816844" cy="4398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EC3A26-A42C-EEBA-4200-DD18961D195A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Device Adapter Module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13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5C7C-32E8-7DEF-9E92-495ED949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4BC5-6398-0584-C930-C9AD8E04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E1849F-8C04-B53E-683C-4F8793711F28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A18EE8FE-2C0C-10A4-929E-80CD961BA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80EF58D-8F40-1179-9004-25A28D79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88353CCB-47B9-1523-3E27-4097A34AB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1E7485-36E2-AFBC-78F0-F596DF244C3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D778A0-E701-1F1B-7DF3-25E0E1374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5" y="1561344"/>
            <a:ext cx="7816844" cy="4398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36C85-A2B1-AC20-1386-F145F6D42F71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Address Decoupling Logic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507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7560-2B19-EE8C-8843-BC1486B5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232D-A736-AECE-44B7-2A77B66D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775000-F0A0-81A6-F4D3-4F366C8834D1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659415A-B801-CA8F-D5B5-5ADCB8FD1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462F0EC-B1CE-30D7-E613-5393C908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366929CE-0732-A8A9-E231-54101BFD0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E699A3-233E-AB51-54C6-37F8DD1656D0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C55DE6-0872-ADE7-FCE9-9F34B5592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4" y="1560153"/>
            <a:ext cx="7816846" cy="4398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25940-DC6E-4BC3-9330-C985796C3E9E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the Data Memory (64Kb)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14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412A-DEE2-EE61-F6EE-03D21832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D767-1D74-2999-ECB8-840FDE59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5B0DD9-EB6D-9EF9-2C8B-3CBF8D5F805B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700BFBE-E927-1A70-0F73-91C4E935F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5B23D88-2F29-AD2E-0CB0-8BE155E9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FB392002-3E96-6E22-0727-FB2711A75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89F806-75B9-0303-FA00-85F73266537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F53AE01-F9AF-4D08-DD9D-EF33470A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18" y="1559948"/>
            <a:ext cx="7816837" cy="4398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AF7828-D31C-4A5E-AB8A-75D7681A5534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Netlist of a 8-bit Memory Bank (16 </a:t>
            </a:r>
            <a:r>
              <a:rPr lang="en-US" sz="2000" i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Kb</a:t>
            </a:r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14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9EF6-9E25-2A4B-08F9-2240F543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AF39-2158-FB61-B4B7-F4F28EE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E44FB-2043-DA63-ECDF-213C64053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Hardware Implementation</a:t>
            </a:r>
          </a:p>
          <a:p>
            <a:r>
              <a:rPr lang="en-US" dirty="0">
                <a:latin typeface="Arial"/>
                <a:cs typeface="Arial"/>
              </a:rPr>
              <a:t>Successful deployment on </a:t>
            </a:r>
            <a:r>
              <a:rPr lang="en-US" b="1" dirty="0">
                <a:latin typeface="Arial"/>
                <a:cs typeface="Arial"/>
              </a:rPr>
              <a:t>DE10-Standard</a:t>
            </a:r>
            <a:r>
              <a:rPr lang="en-US" dirty="0">
                <a:latin typeface="Arial"/>
                <a:cs typeface="Arial"/>
              </a:rPr>
              <a:t> kit </a:t>
            </a:r>
          </a:p>
          <a:p>
            <a:r>
              <a:rPr lang="en-US" dirty="0">
                <a:latin typeface="Arial"/>
                <a:cs typeface="Arial"/>
              </a:rPr>
              <a:t>Functional </a:t>
            </a:r>
            <a:r>
              <a:rPr lang="en-US" b="1" dirty="0">
                <a:latin typeface="Arial"/>
                <a:cs typeface="Arial"/>
              </a:rPr>
              <a:t>Stopwatch</a:t>
            </a:r>
            <a:r>
              <a:rPr lang="en-US" dirty="0">
                <a:latin typeface="Arial"/>
                <a:cs typeface="Arial"/>
              </a:rPr>
              <a:t> demo application </a:t>
            </a:r>
          </a:p>
          <a:p>
            <a:r>
              <a:rPr lang="en-US" dirty="0">
                <a:latin typeface="Arial"/>
                <a:cs typeface="Arial"/>
              </a:rPr>
              <a:t>Real-time data display on </a:t>
            </a:r>
            <a:r>
              <a:rPr lang="en-US" b="1" dirty="0">
                <a:latin typeface="Arial"/>
                <a:cs typeface="Arial"/>
              </a:rPr>
              <a:t>LCD</a:t>
            </a:r>
          </a:p>
          <a:p>
            <a:r>
              <a:rPr lang="en-US" dirty="0">
                <a:latin typeface="Arial"/>
                <a:cs typeface="Arial"/>
              </a:rPr>
              <a:t>Validated </a:t>
            </a:r>
            <a:r>
              <a:rPr lang="en-US" b="1" dirty="0">
                <a:latin typeface="Arial"/>
                <a:cs typeface="Arial"/>
              </a:rPr>
              <a:t>MMIO</a:t>
            </a:r>
            <a:r>
              <a:rPr lang="en-US" dirty="0">
                <a:latin typeface="Arial"/>
                <a:cs typeface="Arial"/>
              </a:rPr>
              <a:t> routing through </a:t>
            </a:r>
            <a:r>
              <a:rPr lang="en-US" dirty="0" err="1">
                <a:latin typeface="Arial"/>
                <a:cs typeface="Arial"/>
              </a:rPr>
              <a:t>TileLink</a:t>
            </a:r>
            <a:r>
              <a:rPr lang="en-US" dirty="0">
                <a:latin typeface="Arial"/>
                <a:cs typeface="Arial"/>
              </a:rPr>
              <a:t> adapters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09B85C-65B9-3D1A-31AF-88C911598546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87200AB3-AD1C-693E-D25B-C04912B14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62D6D13-A1B8-9E2D-1C01-2B79C36A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03DBC23A-0E88-A022-4949-81BA7DBCC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7F660C-E567-757A-F46F-B85D9220BB86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040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BD69-245F-4BD3-51AC-184B37FC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DD8B-F0D7-608A-BD96-9775A986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Implementation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897231-A950-A1A7-18FB-4E7F76C59F2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B4412B38-4E56-3C71-3FD7-74E1F45C6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61E5433-BD21-2B05-5F15-4806DDD8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0DA5E529-3A1B-501E-24BD-398558A3F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8CDD50-6720-5D95-1E72-EAE6858FC311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circuit board with wires and a display&#10;&#10;AI-generated content may be incorrect.">
            <a:extLst>
              <a:ext uri="{FF2B5EF4-FFF2-40B4-BE49-F238E27FC236}">
                <a16:creationId xmlns:a16="http://schemas.microsoft.com/office/drawing/2014/main" id="{658EB494-E877-AEAF-2428-8D65F7D4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665" y="1603772"/>
            <a:ext cx="7692669" cy="4327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4B5E2-A59F-D1B4-AA8D-644D77DFCA18}"/>
              </a:ext>
            </a:extLst>
          </p:cNvPr>
          <p:cNvSpPr txBox="1"/>
          <p:nvPr/>
        </p:nvSpPr>
        <p:spPr>
          <a:xfrm>
            <a:off x="838200" y="5999443"/>
            <a:ext cx="105088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Experimental setup utilizing the DE10-Standard development board 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19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F0AA-392E-CD66-685D-63970397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7C45-8946-958E-2ACD-232EA25D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Conclusion -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01B4-70FB-9C60-8077-2E8F3F512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Conclusion</a:t>
            </a:r>
          </a:p>
          <a:p>
            <a:r>
              <a:rPr lang="en-US" dirty="0">
                <a:latin typeface="Arial"/>
                <a:cs typeface="Arial"/>
              </a:rPr>
              <a:t>Achieved core-to-memory </a:t>
            </a:r>
            <a:r>
              <a:rPr lang="en-US" b="1" dirty="0">
                <a:latin typeface="Arial"/>
                <a:cs typeface="Arial"/>
              </a:rPr>
              <a:t>decoupling</a:t>
            </a:r>
            <a:r>
              <a:rPr lang="en-US" dirty="0">
                <a:latin typeface="Arial"/>
                <a:cs typeface="Arial"/>
              </a:rPr>
              <a:t> via </a:t>
            </a:r>
            <a:r>
              <a:rPr lang="en-US" dirty="0" err="1">
                <a:latin typeface="Arial"/>
                <a:cs typeface="Arial"/>
              </a:rPr>
              <a:t>TileLink</a:t>
            </a:r>
            <a:r>
              <a:rPr lang="en-US" dirty="0">
                <a:latin typeface="Arial"/>
                <a:cs typeface="Arial"/>
              </a:rPr>
              <a:t>-UL </a:t>
            </a:r>
          </a:p>
          <a:p>
            <a:r>
              <a:rPr lang="en-US" dirty="0">
                <a:latin typeface="Arial"/>
                <a:cs typeface="Arial"/>
              </a:rPr>
              <a:t>Robust handling of </a:t>
            </a:r>
            <a:r>
              <a:rPr lang="en-US" b="1" dirty="0">
                <a:latin typeface="Arial"/>
                <a:cs typeface="Arial"/>
              </a:rPr>
              <a:t>misaligned accesses </a:t>
            </a:r>
            <a:r>
              <a:rPr lang="en-US" dirty="0">
                <a:latin typeface="Arial"/>
                <a:cs typeface="Arial"/>
              </a:rPr>
              <a:t>verified </a:t>
            </a:r>
          </a:p>
          <a:p>
            <a:r>
              <a:rPr lang="en-US" dirty="0">
                <a:latin typeface="Arial"/>
                <a:cs typeface="Arial"/>
              </a:rPr>
              <a:t>Successful </a:t>
            </a:r>
            <a:r>
              <a:rPr lang="en-US" b="1" dirty="0">
                <a:latin typeface="Arial"/>
                <a:cs typeface="Arial"/>
              </a:rPr>
              <a:t>FPGA validation </a:t>
            </a:r>
            <a:r>
              <a:rPr lang="en-US" dirty="0">
                <a:latin typeface="Arial"/>
                <a:cs typeface="Arial"/>
              </a:rPr>
              <a:t>with minimal resource overhead </a:t>
            </a:r>
          </a:p>
          <a:p>
            <a:r>
              <a:rPr lang="en-US" dirty="0">
                <a:latin typeface="Arial"/>
                <a:cs typeface="Arial"/>
              </a:rPr>
              <a:t>Compliant with </a:t>
            </a:r>
            <a:r>
              <a:rPr lang="en-US" b="1" dirty="0">
                <a:latin typeface="Arial"/>
                <a:cs typeface="Arial"/>
              </a:rPr>
              <a:t>industry standards </a:t>
            </a:r>
            <a:r>
              <a:rPr lang="en-US" dirty="0">
                <a:latin typeface="Arial"/>
                <a:cs typeface="Arial"/>
              </a:rPr>
              <a:t>for modular SoC </a:t>
            </a:r>
          </a:p>
          <a:p>
            <a:r>
              <a:rPr lang="en-US" dirty="0">
                <a:latin typeface="Arial"/>
                <a:cs typeface="Arial"/>
              </a:rPr>
              <a:t>Established a </a:t>
            </a:r>
            <a:r>
              <a:rPr lang="en-US" b="1" dirty="0">
                <a:latin typeface="Arial"/>
                <a:cs typeface="Arial"/>
              </a:rPr>
              <a:t>scalable framework </a:t>
            </a:r>
            <a:r>
              <a:rPr lang="en-US" dirty="0">
                <a:latin typeface="Arial"/>
                <a:cs typeface="Arial"/>
              </a:rPr>
              <a:t>for future expansion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721E34-4800-C6BF-B107-93537B949921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F89E971A-338E-03C4-29F2-A04A04CD8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0F74EAA-33BF-5C5A-5814-5A9BEC67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A78A1EB0-31DB-EA35-AFD3-7A7A40622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8BAD64-46C2-0C49-E7F6-9D56A5C5FA6A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417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0CD0-E604-ADCA-9ABB-2CB627D1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4B37-9044-BFA3-BDCB-56D20AB4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Conclusion -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8ECE9-8785-DA1D-FDF0-6C402FC4B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Future Vision</a:t>
            </a:r>
          </a:p>
          <a:p>
            <a:r>
              <a:rPr lang="en-US" dirty="0">
                <a:latin typeface="Arial"/>
                <a:cs typeface="Arial"/>
              </a:rPr>
              <a:t>Implementation of a 1:N Bus Crossbar interconnect </a:t>
            </a:r>
          </a:p>
          <a:p>
            <a:r>
              <a:rPr lang="en-US" dirty="0">
                <a:latin typeface="Arial"/>
                <a:cs typeface="Arial"/>
              </a:rPr>
              <a:t>Integration of Level-1 Instruction Cache </a:t>
            </a:r>
          </a:p>
          <a:p>
            <a:r>
              <a:rPr lang="en-US" dirty="0">
                <a:latin typeface="Arial"/>
                <a:cs typeface="Arial"/>
              </a:rPr>
              <a:t>Support for Direct Memory Access (DMA) controllers </a:t>
            </a:r>
          </a:p>
          <a:p>
            <a:r>
              <a:rPr lang="en-US" dirty="0">
                <a:latin typeface="Arial"/>
                <a:cs typeface="Arial"/>
              </a:rPr>
              <a:t>Exploration of </a:t>
            </a:r>
            <a:r>
              <a:rPr lang="en-US" dirty="0" err="1">
                <a:latin typeface="Arial"/>
                <a:cs typeface="Arial"/>
              </a:rPr>
              <a:t>TileLink</a:t>
            </a:r>
            <a:r>
              <a:rPr lang="en-US" dirty="0">
                <a:latin typeface="Arial"/>
                <a:cs typeface="Arial"/>
              </a:rPr>
              <a:t>-UH for burst transactions </a:t>
            </a:r>
          </a:p>
          <a:p>
            <a:r>
              <a:rPr lang="en-US" dirty="0">
                <a:latin typeface="Arial"/>
                <a:cs typeface="Arial"/>
              </a:rPr>
              <a:t>Integration of communication peripherals (UART, SPI, I2C)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13DDB8-8D13-B2B8-C39C-74FC2D5F3057}"/>
              </a:ext>
            </a:extLst>
          </p:cNvPr>
          <p:cNvCxnSpPr>
            <a:cxnSpLocks/>
          </p:cNvCxnSpPr>
          <p:nvPr/>
        </p:nvCxnSpPr>
        <p:spPr>
          <a:xfrm>
            <a:off x="838200" y="1494473"/>
            <a:ext cx="10515600" cy="0"/>
          </a:xfrm>
          <a:prstGeom prst="line">
            <a:avLst/>
          </a:prstGeom>
          <a:ln w="31750" cap="rnd">
            <a:solidFill>
              <a:srgbClr val="032B9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2C09F1DB-4CB6-B17D-DAF6-CAEF3A2B7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10628709" y="658502"/>
            <a:ext cx="725091" cy="733103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B30B06D-6129-9257-4CDF-4872292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217" y="6409104"/>
            <a:ext cx="725092" cy="365125"/>
          </a:xfrm>
        </p:spPr>
        <p:txBody>
          <a:bodyPr/>
          <a:lstStyle/>
          <a:p>
            <a:fld id="{05299C9F-4585-4ACA-854A-ED9448E2E5CB}" type="slidenum">
              <a:rPr lang="en-US" sz="1600" b="1" smtClean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1600" b="1" dirty="0">
              <a:solidFill>
                <a:srgbClr val="032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2B044494-D069-EB4C-73EF-7110CB658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-3585670" y="-1589331"/>
            <a:ext cx="4542437" cy="39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6B806C-434C-EB87-2FE1-282D87EC3C8E}"/>
              </a:ext>
            </a:extLst>
          </p:cNvPr>
          <p:cNvSpPr txBox="1"/>
          <p:nvPr/>
        </p:nvSpPr>
        <p:spPr>
          <a:xfrm>
            <a:off x="140494" y="6422390"/>
            <a:ext cx="10803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Engineering               Capstone Project 2               Nguyễn Duy Ngọc          January 5, 2026               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381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5BA3-D36E-E168-0709-22B19E3D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F97BAF-0CD6-EABC-CCFF-26D52A35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b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32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YOUR ATTENTION.</a:t>
            </a:r>
            <a:endParaRPr lang="en-US" dirty="0">
              <a:solidFill>
                <a:srgbClr val="032B91"/>
              </a:solidFill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E85A4800-A370-EA27-EF8E-D5B4C2EB6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10997" r="25604" b="20228"/>
          <a:stretch>
            <a:fillRect/>
          </a:stretch>
        </p:blipFill>
        <p:spPr>
          <a:xfrm>
            <a:off x="5630297" y="556592"/>
            <a:ext cx="931406" cy="941698"/>
          </a:xfrm>
          <a:prstGeom prst="rect">
            <a:avLst/>
          </a:prstGeom>
        </p:spPr>
      </p:pic>
      <p:pic>
        <p:nvPicPr>
          <p:cNvPr id="9" name="Picture 8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A985A6B6-DFF8-701A-0C4C-F711649FD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4786" y="-1"/>
            <a:ext cx="7929361" cy="6867801"/>
          </a:xfrm>
          <a:prstGeom prst="rect">
            <a:avLst/>
          </a:prstGeom>
        </p:spPr>
      </p:pic>
      <p:pic>
        <p:nvPicPr>
          <p:cNvPr id="10" name="Picture 9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DA646265-07BB-7356-8F14-6DD04761A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877425" y="0"/>
            <a:ext cx="7929361" cy="686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00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1669</Words>
  <Application>Microsoft Office PowerPoint</Application>
  <PresentationFormat>Widescreen</PresentationFormat>
  <Paragraphs>268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Aptos Display</vt:lpstr>
      <vt:lpstr>Arial</vt:lpstr>
      <vt:lpstr>Office Theme</vt:lpstr>
      <vt:lpstr>PowerPoint Presentation</vt:lpstr>
      <vt:lpstr>Table of Contents</vt:lpstr>
      <vt:lpstr>1. Introduction</vt:lpstr>
      <vt:lpstr>1. Introduction</vt:lpstr>
      <vt:lpstr>2. Theoretical Background</vt:lpstr>
      <vt:lpstr>2. Theoretical Background</vt:lpstr>
      <vt:lpstr>2. Theoretical Background</vt:lpstr>
      <vt:lpstr>2. Theoretical Background</vt:lpstr>
      <vt:lpstr>2. Theoretical Background</vt:lpstr>
      <vt:lpstr>2. Theoretical Background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3. Design - Implementation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4. Implementation Results</vt:lpstr>
      <vt:lpstr>5. Conclusion - Future Vision</vt:lpstr>
      <vt:lpstr>5. Conclusion - Future Vision</vt:lpstr>
      <vt:lpstr>THANK YOU FOR YOUR ATTENTION.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Duy Ngọc</dc:creator>
  <cp:lastModifiedBy>Nguyễn Duy Ngọc</cp:lastModifiedBy>
  <cp:revision>417</cp:revision>
  <dcterms:created xsi:type="dcterms:W3CDTF">2025-06-03T13:21:14Z</dcterms:created>
  <dcterms:modified xsi:type="dcterms:W3CDTF">2026-01-07T16:44:49Z</dcterms:modified>
</cp:coreProperties>
</file>